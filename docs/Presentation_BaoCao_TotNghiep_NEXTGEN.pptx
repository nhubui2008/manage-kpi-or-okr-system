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5.jpg"/><Relationship Id="rId6" Type="http://schemas.openxmlformats.org/officeDocument/2006/relationships/image" Target="../media/image6.jpg"/><Relationship Id="rId7" Type="http://schemas.openxmlformats.org/officeDocument/2006/relationships/image" Target="../media/image7.jpg"/><Relationship Id="rId8" Type="http://schemas.openxmlformats.org/officeDocument/2006/relationships/image" Target="../media/image8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 rot="1080000">
            <a:off x="8138160" y="-548640"/>
            <a:ext cx="4754880" cy="4754880"/>
          </a:xfrm>
          <a:prstGeom prst="roundRect">
            <a:avLst/>
          </a:prstGeom>
          <a:solidFill>
            <a:srgbClr val="7C3AED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 rot="1080000">
            <a:off x="9509760" y="4206240"/>
            <a:ext cx="3200400" cy="3200400"/>
          </a:xfrm>
          <a:prstGeom prst="roundRect">
            <a:avLst/>
          </a:prstGeom>
          <a:solidFill>
            <a:srgbClr val="06B6D4"/>
          </a:solidFill>
          <a:ln w="1016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5303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6B6D4"/>
                </a:solidFill>
                <a:latin typeface="Noto Sans"/>
              </a:rPr>
              <a:t>BÁO CÁO DỰ ÁN TỐT NGHIỆP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188720"/>
            <a:ext cx="713232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100" b="1">
                <a:solidFill>
                  <a:srgbClr val="FFFFFF"/>
                </a:solidFill>
                <a:latin typeface="Noto Sans"/>
              </a:rPr>
              <a:t>HỆ THỐNG HỖ TRỢ
VẬN HÀNH THÔNG MINH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2852928"/>
            <a:ext cx="6583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CBD5E1"/>
                </a:solidFill>
                <a:latin typeface="Noto Sans"/>
              </a:rPr>
              <a:t>Quản lý đa cấp · KPI/OKR liên thông · Hỗ trợ quyết định bằng AI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3749039"/>
            <a:ext cx="5943600" cy="1097280"/>
          </a:xfrm>
          <a:prstGeom prst="roundRect">
            <a:avLst/>
          </a:prstGeom>
          <a:solidFill>
            <a:srgbClr val="111C33"/>
          </a:solidFill>
          <a:ln w="10160">
            <a:solidFill>
              <a:srgbClr val="263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968496"/>
            <a:ext cx="22860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Noto Sans"/>
              </a:rPr>
              <a:t>NHÓM NEXTGEN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370832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CBD5E1"/>
                </a:solidFill>
                <a:latin typeface="Noto Sans"/>
              </a:rPr>
              <a:t>GVHD: Phan Hoàng Khải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22191" y="3941063"/>
            <a:ext cx="1417320" cy="310896"/>
          </a:xfrm>
          <a:prstGeom prst="roundRect">
            <a:avLst/>
          </a:prstGeom>
          <a:solidFill>
            <a:srgbClr val="0B1220"/>
          </a:solidFill>
          <a:ln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22191" y="3950207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06B6D4"/>
                </a:solidFill>
                <a:latin typeface="Noto Sans"/>
              </a:rPr>
              <a:t>ASP.NET CORE MVC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21808" y="3941063"/>
            <a:ext cx="1060704" cy="310896"/>
          </a:xfrm>
          <a:prstGeom prst="roundRect">
            <a:avLst/>
          </a:prstGeom>
          <a:solidFill>
            <a:srgbClr val="0B1220"/>
          </a:solidFill>
          <a:ln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21808" y="3950207"/>
            <a:ext cx="106070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06B6D4"/>
                </a:solidFill>
                <a:latin typeface="Noto Sans"/>
              </a:rPr>
              <a:t>AI-NATIVE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94A3B8"/>
                </a:solidFill>
                <a:latin typeface="Noto Sans"/>
              </a:rPr>
              <a:t>Hà Nội · 2026</a:t>
            </a:r>
          </a:p>
        </p:txBody>
      </p:sp>
      <p:pic>
        <p:nvPicPr>
          <p:cNvPr id="15" name="Picture 14" descr="logo.jpg"/>
          <p:cNvPicPr>
            <a:picLocks noChangeAspect="1"/>
          </p:cNvPicPr>
          <p:nvPr/>
        </p:nvPicPr>
        <p:blipFill>
          <a:blip r:embed="rId2"/>
          <a:srcRect l="10003" r="10003"/>
          <a:stretch>
            <a:fillRect/>
          </a:stretch>
        </p:blipFill>
        <p:spPr>
          <a:xfrm>
            <a:off x="8247888" y="1078992"/>
            <a:ext cx="3246120" cy="221284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384048"/>
            <a:ext cx="1417320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9319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F46E5"/>
                </a:solidFill>
                <a:latin typeface="Noto Sans"/>
              </a:rPr>
              <a:t>ĐỘI NGŨ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37392" y="3383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64748B"/>
                </a:solidFill>
                <a:latin typeface="Noto Sans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972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F172A"/>
                </a:solidFill>
                <a:latin typeface="Noto Sans"/>
              </a:rPr>
              <a:t>Nhóm NEXTGEN — 7 thành viên, một sản phẩm liên thông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01952"/>
            <a:ext cx="2514600" cy="18105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uan.jpg"/>
          <p:cNvPicPr>
            <a:picLocks noChangeAspect="1"/>
          </p:cNvPicPr>
          <p:nvPr/>
        </p:nvPicPr>
        <p:blipFill>
          <a:blip r:embed="rId2"/>
          <a:srcRect t="12500" b="12500"/>
          <a:stretch>
            <a:fillRect/>
          </a:stretch>
        </p:blipFill>
        <p:spPr>
          <a:xfrm>
            <a:off x="804671" y="2084832"/>
            <a:ext cx="713232" cy="7132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627632" y="2066544"/>
            <a:ext cx="13533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>
                <a:solidFill>
                  <a:srgbClr val="0F172A"/>
                </a:solidFill>
                <a:latin typeface="Noto Sans"/>
              </a:rPr>
              <a:t>Phạm Trần Anh Quân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7632" y="25420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64748B"/>
                </a:solidFill>
                <a:latin typeface="Noto Sans"/>
              </a:rPr>
              <a:t>TB01758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1" y="3026664"/>
            <a:ext cx="2176272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1" y="3035808"/>
            <a:ext cx="21762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4F46E5"/>
                </a:solidFill>
                <a:latin typeface="Noto Sans"/>
              </a:rPr>
              <a:t>LEADER · 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93008" y="1901952"/>
            <a:ext cx="2514600" cy="18105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n.jpg"/>
          <p:cNvPicPr>
            <a:picLocks noChangeAspect="1"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3657600" y="2084832"/>
            <a:ext cx="713232" cy="7132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480560" y="2066544"/>
            <a:ext cx="13533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>
                <a:solidFill>
                  <a:srgbClr val="0F172A"/>
                </a:solidFill>
                <a:latin typeface="Noto Sans"/>
              </a:rPr>
              <a:t>Phạm Trần An 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25420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64748B"/>
                </a:solidFill>
                <a:latin typeface="Noto Sans"/>
              </a:rPr>
              <a:t>TB01817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0" y="3026664"/>
            <a:ext cx="2176272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0" y="3035808"/>
            <a:ext cx="21762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4F46E5"/>
                </a:solidFill>
                <a:latin typeface="Noto Sans"/>
              </a:rPr>
              <a:t>BACKEND KPI/OKR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45936" y="1901952"/>
            <a:ext cx="2514600" cy="18105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nhu.jpg"/>
          <p:cNvPicPr>
            <a:picLocks noChangeAspect="1"/>
          </p:cNvPicPr>
          <p:nvPr/>
        </p:nvPicPr>
        <p:blipFill>
          <a:blip r:embed="rId4"/>
          <a:srcRect t="12500" b="12500"/>
          <a:stretch>
            <a:fillRect/>
          </a:stretch>
        </p:blipFill>
        <p:spPr>
          <a:xfrm>
            <a:off x="6510528" y="2084832"/>
            <a:ext cx="713232" cy="71323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333488" y="2066544"/>
            <a:ext cx="13533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>
                <a:solidFill>
                  <a:srgbClr val="0F172A"/>
                </a:solidFill>
                <a:latin typeface="Noto Sans"/>
              </a:rPr>
              <a:t>Bùi Nguyễn Anh Như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33488" y="25420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64748B"/>
                </a:solidFill>
                <a:latin typeface="Noto Sans"/>
              </a:rPr>
              <a:t>TB01785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10528" y="3026664"/>
            <a:ext cx="2176272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0528" y="3035808"/>
            <a:ext cx="21762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4F46E5"/>
                </a:solidFill>
                <a:latin typeface="Noto Sans"/>
              </a:rPr>
              <a:t>FRONTEND KPI/OKR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98863" y="1901952"/>
            <a:ext cx="2514600" cy="18105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pho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63455" y="2084832"/>
            <a:ext cx="713232" cy="713232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0186415" y="2066544"/>
            <a:ext cx="13533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>
                <a:solidFill>
                  <a:srgbClr val="0F172A"/>
                </a:solidFill>
                <a:latin typeface="Noto Sans"/>
              </a:rPr>
              <a:t>Trần Thanh Phong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86415" y="25420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64748B"/>
                </a:solidFill>
                <a:latin typeface="Noto Sans"/>
              </a:rPr>
              <a:t>TB01649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63455" y="3026664"/>
            <a:ext cx="2176272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63455" y="3035808"/>
            <a:ext cx="21762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4F46E5"/>
                </a:solidFill>
                <a:latin typeface="Noto Sans"/>
              </a:rPr>
              <a:t>NỀN TẢNG · HỆ THỐNG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066543" y="4160520"/>
            <a:ext cx="2514600" cy="18105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ba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31136" y="4343400"/>
            <a:ext cx="713232" cy="713232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3054096" y="4325112"/>
            <a:ext cx="13533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>
                <a:solidFill>
                  <a:srgbClr val="0F172A"/>
                </a:solidFill>
                <a:latin typeface="Noto Sans"/>
              </a:rPr>
              <a:t>Nguyễn Thế Bảo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54096" y="4800600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64748B"/>
                </a:solidFill>
                <a:latin typeface="Noto Sans"/>
              </a:rPr>
              <a:t>TB01573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231136" y="5285231"/>
            <a:ext cx="2176272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231136" y="5294375"/>
            <a:ext cx="21762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4F46E5"/>
                </a:solidFill>
                <a:latin typeface="Noto Sans"/>
              </a:rPr>
              <a:t>VẬN HÀNH · KANBAN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919472" y="4160520"/>
            <a:ext cx="2514600" cy="18105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khanh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84064" y="4343400"/>
            <a:ext cx="713232" cy="713232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5907024" y="4325112"/>
            <a:ext cx="13533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>
                <a:solidFill>
                  <a:srgbClr val="0F172A"/>
                </a:solidFill>
                <a:latin typeface="Noto Sans"/>
              </a:rPr>
              <a:t>Đoàn Quốc Khánh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07024" y="4800600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64748B"/>
                </a:solidFill>
                <a:latin typeface="Noto Sans"/>
              </a:rPr>
              <a:t>TB01544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84064" y="5285231"/>
            <a:ext cx="2176272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84064" y="5294375"/>
            <a:ext cx="21762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4F46E5"/>
                </a:solidFill>
                <a:latin typeface="Noto Sans"/>
              </a:rPr>
              <a:t>QA · KIỂM THỬ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772400" y="4160520"/>
            <a:ext cx="2514600" cy="18105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nha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36992" y="4343400"/>
            <a:ext cx="713232" cy="713232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8759952" y="4325112"/>
            <a:ext cx="13533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>
                <a:solidFill>
                  <a:srgbClr val="0F172A"/>
                </a:solidFill>
                <a:latin typeface="Noto Sans"/>
              </a:rPr>
              <a:t>Vũ Hoàng Huy Nhật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59952" y="4800600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64748B"/>
                </a:solidFill>
                <a:latin typeface="Noto Sans"/>
              </a:rPr>
              <a:t>TB01605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936992" y="5285231"/>
            <a:ext cx="2176272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936992" y="5294375"/>
            <a:ext cx="21762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4F46E5"/>
                </a:solidFill>
                <a:latin typeface="Noto Sans"/>
              </a:rPr>
              <a:t>FRONTEND VẬN HÀNH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594360" y="6510528"/>
            <a:ext cx="11000232" cy="0"/>
          </a:xfrm>
          <a:prstGeom prst="line">
            <a:avLst/>
          </a:prstGeom>
          <a:ln w="8890">
            <a:solidFill>
              <a:srgbClr val="DDE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594360" y="6565392"/>
            <a:ext cx="4572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64748B"/>
                </a:solidFill>
                <a:latin typeface="Noto Sans"/>
              </a:rPr>
              <a:t>NEXTGEN · TỔ CHỨC THEO PHÂN HỆ, TÍCH HỢP TRÊN CÙNG KIẾN TRÚC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384048"/>
            <a:ext cx="1417320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9319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F46E5"/>
                </a:solidFill>
                <a:latin typeface="Noto Sans"/>
              </a:rPr>
              <a:t>BÀI TOÁN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37392" y="3383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64748B"/>
                </a:solidFill>
                <a:latin typeface="Noto Sans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972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F172A"/>
                </a:solidFill>
                <a:latin typeface="Noto Sans"/>
              </a:rPr>
              <a:t>SME cần dữ liệu xuyên suốt từ chiến lược đến thực thi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53312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4748B"/>
                </a:solidFill>
                <a:latin typeface="Noto Sans"/>
              </a:rPr>
              <a:t>Quy trình rời rạc khiến quản lý phản ứng chậm và khó kiểm chứng quyết định.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048256"/>
            <a:ext cx="5230368" cy="1481328"/>
          </a:xfrm>
          <a:prstGeom prst="roundRect">
            <a:avLst/>
          </a:prstGeom>
          <a:solidFill>
            <a:srgbClr val="FFF1F2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2048256"/>
            <a:ext cx="64008" cy="1481328"/>
          </a:xfrm>
          <a:prstGeom prst="rect">
            <a:avLst/>
          </a:prstGeom>
          <a:solidFill>
            <a:srgbClr val="E11D48"/>
          </a:solidFill>
          <a:ln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86968" y="2231136"/>
            <a:ext cx="438912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2240280"/>
            <a:ext cx="43891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E11D48"/>
                </a:solidFill>
                <a:latin typeface="Noto San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5607" y="2231136"/>
            <a:ext cx="427939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Dữ liệu phân tán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2660904"/>
            <a:ext cx="475487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75569"/>
                </a:solidFill>
                <a:latin typeface="Noto Sans"/>
              </a:rPr>
              <a:t>KPI/OKR nằm ở nhiều bảng tính và phòng ban; tổng hợp chậm, dễ lệch số.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2048256"/>
            <a:ext cx="5230368" cy="1481328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2048256"/>
            <a:ext cx="64008" cy="148132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10528" y="2231136"/>
            <a:ext cx="438912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10528" y="2240280"/>
            <a:ext cx="43891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59E0B"/>
                </a:solidFill>
                <a:latin typeface="Noto Sans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9168" y="2231136"/>
            <a:ext cx="427939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Đánh giá cảm tính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65392" y="2660904"/>
            <a:ext cx="475487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75569"/>
                </a:solidFill>
                <a:latin typeface="Noto Sans"/>
              </a:rPr>
              <a:t>Thiếu baseline đo lường và workflow duyệt rõ trách nhiệm giữa các cấp.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877056"/>
            <a:ext cx="5230368" cy="1481328"/>
          </a:xfrm>
          <a:prstGeom prst="roundRect">
            <a:avLst/>
          </a:prstGeom>
          <a:solidFill>
            <a:srgbClr val="EEF2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5800" y="3877056"/>
            <a:ext cx="64008" cy="1481328"/>
          </a:xfrm>
          <a:prstGeom prst="rect">
            <a:avLst/>
          </a:prstGeom>
          <a:solidFill>
            <a:srgbClr val="4F46E5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86968" y="4059936"/>
            <a:ext cx="438912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6968" y="4069080"/>
            <a:ext cx="43891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F46E5"/>
                </a:solidFill>
                <a:latin typeface="Noto Sans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35607" y="4059936"/>
            <a:ext cx="427939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Chiến lược đứt gãy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1832" y="4489704"/>
            <a:ext cx="475487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75569"/>
                </a:solidFill>
                <a:latin typeface="Noto Sans"/>
              </a:rPr>
              <a:t>Mục tiêu công ty không liên kết rõ tới KR, KPI và đầu việc hằng ngày.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09360" y="3877056"/>
            <a:ext cx="5230368" cy="1481328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09360" y="3877056"/>
            <a:ext cx="64008" cy="1481328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510528" y="4059936"/>
            <a:ext cx="438912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10528" y="4069080"/>
            <a:ext cx="43891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F766E"/>
                </a:solidFill>
                <a:latin typeface="Noto Sans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9168" y="4059936"/>
            <a:ext cx="427939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Can thiệp quá muộn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65392" y="4489704"/>
            <a:ext cx="475487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75569"/>
                </a:solidFill>
                <a:latin typeface="Noto Sans"/>
              </a:rPr>
              <a:t>Không có luồng check-in, cảnh báo và bằng chứng kịp thời để hỗ trợ quyết định.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" y="5760720"/>
            <a:ext cx="10863072" cy="512064"/>
          </a:xfrm>
          <a:prstGeom prst="roundRect">
            <a:avLst/>
          </a:prstGeom>
          <a:solidFill>
            <a:srgbClr val="0B1220"/>
          </a:solidFill>
          <a:ln w="10160"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5879592"/>
            <a:ext cx="10424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Noto Sans"/>
              </a:rPr>
              <a:t>Mấu chốt: một nguồn dữ liệu thống nhất, quyền truy cập đúng phạm vi và AI chỉ đóng vai trò cố vấn.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94360" y="6510528"/>
            <a:ext cx="11000232" cy="0"/>
          </a:xfrm>
          <a:prstGeom prst="line">
            <a:avLst/>
          </a:prstGeom>
          <a:ln w="8890">
            <a:solidFill>
              <a:srgbClr val="DDE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594360" y="6565392"/>
            <a:ext cx="4572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64748B"/>
                </a:solidFill>
                <a:latin typeface="Noto Sans"/>
              </a:rPr>
              <a:t>NEXTGEN · BIZEN AI-NATIVE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384048"/>
            <a:ext cx="1417320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9319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F46E5"/>
                </a:solidFill>
                <a:latin typeface="Noto Sans"/>
              </a:rPr>
              <a:t>GIẢI PHÁP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37392" y="3383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64748B"/>
                </a:solidFill>
                <a:latin typeface="Noto Sans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972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F172A"/>
                </a:solidFill>
                <a:latin typeface="Noto Sans"/>
              </a:rPr>
              <a:t>Bizen kết nối quản trị mục tiêu thành một vòng vận hành khép kín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" y="1993392"/>
            <a:ext cx="1938528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32103" y="2185416"/>
            <a:ext cx="384048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3" y="2194560"/>
            <a:ext cx="38404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F46E5"/>
                </a:solidFill>
                <a:latin typeface="Noto San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2615184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Chiến lược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3" y="2962656"/>
            <a:ext cx="1600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4748B"/>
                </a:solidFill>
                <a:latin typeface="Noto Sans"/>
              </a:rPr>
              <a:t>Sứ mệnh · Mục tiêu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33472" y="2487168"/>
            <a:ext cx="2926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4A3B8"/>
                </a:solidFill>
                <a:latin typeface="Noto Sans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53512" y="1993392"/>
            <a:ext cx="1938528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118104" y="2185416"/>
            <a:ext cx="384048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18104" y="2194560"/>
            <a:ext cx="38404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7C3AED"/>
                </a:solidFill>
                <a:latin typeface="Noto Sans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18104" y="2615184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OKR / KR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18104" y="2962656"/>
            <a:ext cx="1600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4748B"/>
                </a:solidFill>
                <a:latin typeface="Noto Sans"/>
              </a:rPr>
              <a:t>Phân rã đa cấp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19472" y="2487168"/>
            <a:ext cx="2926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4A3B8"/>
                </a:solidFill>
                <a:latin typeface="Noto Sans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239512" y="1993392"/>
            <a:ext cx="1938528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04104" y="2185416"/>
            <a:ext cx="384048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04104" y="2194560"/>
            <a:ext cx="38404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6B6D4"/>
                </a:solidFill>
                <a:latin typeface="Noto Sans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04104" y="2615184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KPI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04104" y="2962656"/>
            <a:ext cx="1600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4748B"/>
                </a:solidFill>
                <a:latin typeface="Noto Sans"/>
              </a:rPr>
              <a:t>Target · Trọng số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05472" y="2487168"/>
            <a:ext cx="2926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4A3B8"/>
                </a:solidFill>
                <a:latin typeface="Noto Sans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525512" y="1993392"/>
            <a:ext cx="1938528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690104" y="2185416"/>
            <a:ext cx="384048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90104" y="2194560"/>
            <a:ext cx="38404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F766E"/>
                </a:solidFill>
                <a:latin typeface="Noto Sans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90104" y="2615184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Thực thi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90104" y="2962656"/>
            <a:ext cx="1600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4748B"/>
                </a:solidFill>
                <a:latin typeface="Noto Sans"/>
              </a:rPr>
              <a:t>Task · Check-in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91472" y="2487168"/>
            <a:ext cx="2926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4A3B8"/>
                </a:solidFill>
                <a:latin typeface="Noto Sans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811512" y="1993392"/>
            <a:ext cx="1938528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976104" y="2185416"/>
            <a:ext cx="384048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76104" y="2194560"/>
            <a:ext cx="38404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16A34A"/>
                </a:solidFill>
                <a:latin typeface="Noto Sans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76104" y="2615184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Đánh giá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76104" y="2962656"/>
            <a:ext cx="1600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4748B"/>
                </a:solidFill>
                <a:latin typeface="Noto Sans"/>
              </a:rPr>
              <a:t>Duyệt · Xếp hạng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85800" y="3986784"/>
            <a:ext cx="3401568" cy="1325880"/>
          </a:xfrm>
          <a:prstGeom prst="roundRect">
            <a:avLst/>
          </a:prstGeom>
          <a:solidFill>
            <a:srgbClr val="EEF2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85800" y="3986784"/>
            <a:ext cx="64008" cy="1325880"/>
          </a:xfrm>
          <a:prstGeom prst="rect">
            <a:avLst/>
          </a:prstGeom>
          <a:solidFill>
            <a:srgbClr val="4F46E5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41832" y="4169664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Một dữ liệu — nhiều góc nhìn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1832" y="4599432"/>
            <a:ext cx="2926080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75569"/>
                </a:solidFill>
                <a:latin typeface="Noto Sans"/>
              </a:rPr>
              <a:t>Dashboard theo kỳ, phạm vi vai trò và tiến độ thực tế; giảm tổng hợp thủ công.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389120" y="3986784"/>
            <a:ext cx="3401568" cy="1325880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389120" y="3986784"/>
            <a:ext cx="64008" cy="132588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45152" y="4169664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Workflow có trách nhiệm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45152" y="4599432"/>
            <a:ext cx="2926080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75569"/>
                </a:solidFill>
                <a:latin typeface="Noto Sans"/>
              </a:rPr>
              <a:t>Nhân viên báo cáo, quản lý duyệt, hệ thống tính toán; mọi bước có trạng thái rõ ràng.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092440" y="3986784"/>
            <a:ext cx="3401568" cy="1325880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092440" y="3986784"/>
            <a:ext cx="64008" cy="132588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48471" y="4169664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AI gắn vào quyết định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48471" y="4599432"/>
            <a:ext cx="2926080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75569"/>
                </a:solidFill>
                <a:latin typeface="Noto Sans"/>
              </a:rPr>
              <a:t>Cố vấn dùng nguồn được phép; con người sửa và xác nhận qua form nghiệp vụ chuẩn.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594360" y="6510528"/>
            <a:ext cx="11000232" cy="0"/>
          </a:xfrm>
          <a:prstGeom prst="line">
            <a:avLst/>
          </a:prstGeom>
          <a:ln w="8890">
            <a:solidFill>
              <a:srgbClr val="DDE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594360" y="6565392"/>
            <a:ext cx="4572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64748B"/>
                </a:solidFill>
                <a:latin typeface="Noto Sans"/>
              </a:rPr>
              <a:t>NEXTGEN · BIZEN AI-NATIVE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384048"/>
            <a:ext cx="1417320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9319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F46E5"/>
                </a:solidFill>
                <a:latin typeface="Noto Sans"/>
              </a:rPr>
              <a:t>NGƯỜI DÙNG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37392" y="3383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64748B"/>
                </a:solidFill>
                <a:latin typeface="Noto Sans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972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F172A"/>
                </a:solidFill>
                <a:latin typeface="Noto Sans"/>
              </a:rPr>
              <a:t>Một hệ thống, năm vai trò và phạm vi dữ liệu rõ ràng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4088" y="1828800"/>
            <a:ext cx="1938528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011680"/>
            <a:ext cx="16093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Noto Sans"/>
              </a:rPr>
              <a:t>Admin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59152"/>
            <a:ext cx="160934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9" b="0">
                <a:solidFill>
                  <a:srgbClr val="475569"/>
                </a:solidFill>
                <a:latin typeface="Noto Sans"/>
              </a:rPr>
              <a:t>Cấu hình tổ chức &amp; quyền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90088" y="1828800"/>
            <a:ext cx="1938528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54680" y="2011680"/>
            <a:ext cx="16093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Noto Sans"/>
              </a:rPr>
              <a:t>Director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54680" y="2359152"/>
            <a:ext cx="160934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9" b="0">
                <a:solidFill>
                  <a:srgbClr val="475569"/>
                </a:solidFill>
                <a:latin typeface="Noto Sans"/>
              </a:rPr>
              <a:t>Chiến lược &amp; phê duyệt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76088" y="1828800"/>
            <a:ext cx="1938528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40679" y="2011680"/>
            <a:ext cx="16093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Noto Sans"/>
              </a:rPr>
              <a:t>Manager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40679" y="2359152"/>
            <a:ext cx="160934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9" b="0">
                <a:solidFill>
                  <a:srgbClr val="475569"/>
                </a:solidFill>
                <a:latin typeface="Noto Sans"/>
              </a:rPr>
              <a:t>Giao KPI &amp; review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62088" y="1828800"/>
            <a:ext cx="1938528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26679" y="2011680"/>
            <a:ext cx="16093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Noto Sans"/>
              </a:rPr>
              <a:t>Employee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26679" y="2359152"/>
            <a:ext cx="160934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9" b="0">
                <a:solidFill>
                  <a:srgbClr val="475569"/>
                </a:solidFill>
                <a:latin typeface="Noto Sans"/>
              </a:rPr>
              <a:t>Thực thi &amp; check-in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848088" y="1828800"/>
            <a:ext cx="1938528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12680" y="2011680"/>
            <a:ext cx="16093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Noto Sans"/>
              </a:rPr>
              <a:t>HR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12680" y="2359152"/>
            <a:ext cx="160934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9" b="0">
                <a:solidFill>
                  <a:srgbClr val="475569"/>
                </a:solidFill>
                <a:latin typeface="Noto Sans"/>
              </a:rPr>
              <a:t>Kỳ đánh giá &amp; kết quả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14400" y="3383280"/>
            <a:ext cx="10241280" cy="0"/>
          </a:xfrm>
          <a:prstGeom prst="line">
            <a:avLst/>
          </a:prstGeom>
          <a:ln w="38100">
            <a:solidFill>
              <a:srgbClr val="C7D2F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1051560" y="3191256"/>
            <a:ext cx="384048" cy="384048"/>
          </a:xfrm>
          <a:prstGeom prst="ellipse">
            <a:avLst/>
          </a:prstGeom>
          <a:solidFill>
            <a:srgbClr val="4F46E5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1560" y="3218688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Noto Sans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59" y="3730752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F172A"/>
                </a:solidFill>
                <a:latin typeface="Noto Sans"/>
              </a:rPr>
              <a:t>Thiết lập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5" y="4087368"/>
            <a:ext cx="153619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19" b="0">
                <a:solidFill>
                  <a:srgbClr val="64748B"/>
                </a:solidFill>
                <a:latin typeface="Noto Sans"/>
              </a:rPr>
              <a:t>Mục tiêu / kỳ</a:t>
            </a:r>
          </a:p>
        </p:txBody>
      </p:sp>
      <p:sp>
        <p:nvSpPr>
          <p:cNvPr id="26" name="Oval 25"/>
          <p:cNvSpPr/>
          <p:nvPr/>
        </p:nvSpPr>
        <p:spPr>
          <a:xfrm>
            <a:off x="3063240" y="3191256"/>
            <a:ext cx="384048" cy="384048"/>
          </a:xfrm>
          <a:prstGeom prst="ellipse">
            <a:avLst/>
          </a:prstGeom>
          <a:solidFill>
            <a:srgbClr val="4F46E5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63240" y="3218688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Noto Sans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34640" y="3730752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F172A"/>
                </a:solidFill>
                <a:latin typeface="Noto Sans"/>
              </a:rPr>
              <a:t>Giao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4087368"/>
            <a:ext cx="153619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19" b="0">
                <a:solidFill>
                  <a:srgbClr val="64748B"/>
                </a:solidFill>
                <a:latin typeface="Noto Sans"/>
              </a:rPr>
              <a:t>OKR / KPI / task</a:t>
            </a:r>
          </a:p>
        </p:txBody>
      </p:sp>
      <p:sp>
        <p:nvSpPr>
          <p:cNvPr id="30" name="Oval 29"/>
          <p:cNvSpPr/>
          <p:nvPr/>
        </p:nvSpPr>
        <p:spPr>
          <a:xfrm>
            <a:off x="5074920" y="3191256"/>
            <a:ext cx="384048" cy="384048"/>
          </a:xfrm>
          <a:prstGeom prst="ellipse">
            <a:avLst/>
          </a:prstGeom>
          <a:solidFill>
            <a:srgbClr val="4F46E5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74920" y="3218688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Noto Sans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46320" y="3730752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F172A"/>
                </a:solidFill>
                <a:latin typeface="Noto Sans"/>
              </a:rPr>
              <a:t>Thực thi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45736" y="4087368"/>
            <a:ext cx="153619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19" b="0">
                <a:solidFill>
                  <a:srgbClr val="64748B"/>
                </a:solidFill>
                <a:latin typeface="Noto Sans"/>
              </a:rPr>
              <a:t>Kanban / check-in</a:t>
            </a:r>
          </a:p>
        </p:txBody>
      </p:sp>
      <p:sp>
        <p:nvSpPr>
          <p:cNvPr id="34" name="Oval 33"/>
          <p:cNvSpPr/>
          <p:nvPr/>
        </p:nvSpPr>
        <p:spPr>
          <a:xfrm>
            <a:off x="7086600" y="3191256"/>
            <a:ext cx="384048" cy="384048"/>
          </a:xfrm>
          <a:prstGeom prst="ellipse">
            <a:avLst/>
          </a:prstGeom>
          <a:solidFill>
            <a:srgbClr val="4F46E5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086600" y="3218688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Noto Sans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0" y="3730752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F172A"/>
                </a:solidFill>
                <a:latin typeface="Noto Sans"/>
              </a:rPr>
              <a:t>Kiểm soát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57416" y="4087368"/>
            <a:ext cx="153619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19" b="0">
                <a:solidFill>
                  <a:srgbClr val="64748B"/>
                </a:solidFill>
                <a:latin typeface="Noto Sans"/>
              </a:rPr>
              <a:t>Review / phê duyệt</a:t>
            </a:r>
          </a:p>
        </p:txBody>
      </p:sp>
      <p:sp>
        <p:nvSpPr>
          <p:cNvPr id="38" name="Oval 37"/>
          <p:cNvSpPr/>
          <p:nvPr/>
        </p:nvSpPr>
        <p:spPr>
          <a:xfrm>
            <a:off x="9098280" y="3191256"/>
            <a:ext cx="384048" cy="384048"/>
          </a:xfrm>
          <a:prstGeom prst="ellipse">
            <a:avLst/>
          </a:prstGeom>
          <a:solidFill>
            <a:srgbClr val="4F46E5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098280" y="3218688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Noto Sans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69680" y="3730752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F172A"/>
                </a:solidFill>
                <a:latin typeface="Noto Sans"/>
              </a:rPr>
              <a:t>Ra quyết định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769096" y="4087368"/>
            <a:ext cx="153619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19" b="0">
                <a:solidFill>
                  <a:srgbClr val="64748B"/>
                </a:solidFill>
                <a:latin typeface="Noto Sans"/>
              </a:rPr>
              <a:t>Dashboard / đánh giá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13232" y="4983480"/>
            <a:ext cx="10808208" cy="804672"/>
          </a:xfrm>
          <a:prstGeom prst="roundRect">
            <a:avLst/>
          </a:prstGeom>
          <a:solidFill>
            <a:srgbClr val="0B1220"/>
          </a:solidFill>
          <a:ln w="10160"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0120" y="5230368"/>
            <a:ext cx="10287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Noto Sans"/>
              </a:rPr>
              <a:t>RBAC + phạm vi tenant/phòng ban/nhân viên đi cùng mọi thao tác đọc và ghi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594360" y="6510528"/>
            <a:ext cx="11000232" cy="0"/>
          </a:xfrm>
          <a:prstGeom prst="line">
            <a:avLst/>
          </a:prstGeom>
          <a:ln w="8890">
            <a:solidFill>
              <a:srgbClr val="DDE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594360" y="6565392"/>
            <a:ext cx="4572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64748B"/>
                </a:solidFill>
                <a:latin typeface="Noto Sans"/>
              </a:rPr>
              <a:t>NEXTGEN · BIZEN AI-NATIVE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384048"/>
            <a:ext cx="1417320" cy="310896"/>
          </a:xfrm>
          <a:prstGeom prst="roundRect">
            <a:avLst/>
          </a:prstGeom>
          <a:solidFill>
            <a:srgbClr val="111C33"/>
          </a:solidFill>
          <a:ln>
            <a:solidFill>
              <a:srgbClr val="111C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9319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6B6D4"/>
                </a:solidFill>
                <a:latin typeface="Noto Sans"/>
              </a:rPr>
              <a:t>KIẾN TRÚC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37392" y="3383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CBD5E1"/>
                </a:solidFill>
                <a:latin typeface="Noto Sans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972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FFFFF"/>
                </a:solidFill>
                <a:latin typeface="Noto Sans"/>
              </a:rPr>
              <a:t>Nền tảng web phân tầng, bảo mật dữ liệu theo tenant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53312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CBD5E1"/>
                </a:solidFill>
                <a:latin typeface="Noto Sans"/>
              </a:rPr>
              <a:t>ASP.NET Core MVC · EF Core · SQL Server · AI model gateway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2011680"/>
            <a:ext cx="10351008" cy="713232"/>
          </a:xfrm>
          <a:prstGeom prst="roundRect">
            <a:avLst/>
          </a:prstGeom>
          <a:solidFill>
            <a:srgbClr val="18243D"/>
          </a:solidFill>
          <a:ln w="10160">
            <a:solidFill>
              <a:srgbClr val="2D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194560"/>
            <a:ext cx="1325880" cy="310896"/>
          </a:xfrm>
          <a:prstGeom prst="roundRect">
            <a:avLst/>
          </a:prstGeom>
          <a:solidFill>
            <a:srgbClr val="0B1220"/>
          </a:solidFill>
          <a:ln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203704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06B6D4"/>
                </a:solidFill>
                <a:latin typeface="Noto Sans"/>
              </a:rPr>
              <a:t>TRẢI NGHIỆM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24912" y="2194560"/>
            <a:ext cx="8092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Noto Sans"/>
              </a:rPr>
              <a:t>Razor + Bootstrap · Dashboard · OKR/KPI · Kanban · Check-in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2971800"/>
            <a:ext cx="10351008" cy="713232"/>
          </a:xfrm>
          <a:prstGeom prst="roundRect">
            <a:avLst/>
          </a:prstGeom>
          <a:solidFill>
            <a:srgbClr val="17233B"/>
          </a:solidFill>
          <a:ln w="10160">
            <a:solidFill>
              <a:srgbClr val="2D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43000" y="3154680"/>
            <a:ext cx="1325880" cy="310896"/>
          </a:xfrm>
          <a:prstGeom prst="roundRect">
            <a:avLst/>
          </a:prstGeom>
          <a:solidFill>
            <a:srgbClr val="0B1220"/>
          </a:solidFill>
          <a:ln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163824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4F46E5"/>
                </a:solidFill>
                <a:latin typeface="Noto Sans"/>
              </a:rPr>
              <a:t>NGHIỆP VỤ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24912" y="3154680"/>
            <a:ext cx="8092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Noto Sans"/>
              </a:rPr>
              <a:t>Controllers · Services · Validators · Authorization filters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3931920"/>
            <a:ext cx="10351008" cy="713232"/>
          </a:xfrm>
          <a:prstGeom prst="roundRect">
            <a:avLst/>
          </a:prstGeom>
          <a:solidFill>
            <a:srgbClr val="152239"/>
          </a:solidFill>
          <a:ln w="10160">
            <a:solidFill>
              <a:srgbClr val="2D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43000" y="4114800"/>
            <a:ext cx="1325880" cy="310896"/>
          </a:xfrm>
          <a:prstGeom prst="roundRect">
            <a:avLst/>
          </a:prstGeom>
          <a:solidFill>
            <a:srgbClr val="0B1220"/>
          </a:solidFill>
          <a:ln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123944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0F766E"/>
                </a:solidFill>
                <a:latin typeface="Noto Sans"/>
              </a:rPr>
              <a:t>DỮ LIỆU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24912" y="4114800"/>
            <a:ext cx="8092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Noto Sans"/>
              </a:rPr>
              <a:t>EF Core · Transactions · RowVersion · SQL Server RLS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4892040"/>
            <a:ext cx="10351008" cy="713232"/>
          </a:xfrm>
          <a:prstGeom prst="roundRect">
            <a:avLst/>
          </a:prstGeom>
          <a:solidFill>
            <a:srgbClr val="132137"/>
          </a:solidFill>
          <a:ln w="10160">
            <a:solidFill>
              <a:srgbClr val="2D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43000" y="5074920"/>
            <a:ext cx="1325880" cy="310896"/>
          </a:xfrm>
          <a:prstGeom prst="roundRect">
            <a:avLst/>
          </a:prstGeom>
          <a:solidFill>
            <a:srgbClr val="0B1220"/>
          </a:solidFill>
          <a:ln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5084064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7C3AED"/>
                </a:solidFill>
                <a:latin typeface="Noto Sans"/>
              </a:rPr>
              <a:t>AI-NATIVE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24912" y="5074920"/>
            <a:ext cx="8092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Noto Sans"/>
              </a:rPr>
              <a:t>Advisor contracts · AgentRun · Outbox · Citation metadata · RAG ACL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961888"/>
            <a:ext cx="103327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CBD5E1"/>
                </a:solidFill>
                <a:latin typeface="Noto Sans"/>
              </a:rPr>
              <a:t>Mọi write chính thức đều đi qua validator + quyền + transaction của nghiệp vụ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384048"/>
            <a:ext cx="1417320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9319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F46E5"/>
                </a:solidFill>
                <a:latin typeface="Noto Sans"/>
              </a:rPr>
              <a:t>SẢN PHẨM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37392" y="3383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64748B"/>
                </a:solidFill>
                <a:latin typeface="Noto Sans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972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F172A"/>
                </a:solidFill>
                <a:latin typeface="Noto Sans"/>
              </a:rPr>
              <a:t>Dashboard hợp nhất tiến độ, con người và hành động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700784"/>
            <a:ext cx="10954512" cy="430682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creenshot_dashboard.png"/>
          <p:cNvPicPr>
            <a:picLocks noChangeAspect="1"/>
          </p:cNvPicPr>
          <p:nvPr/>
        </p:nvPicPr>
        <p:blipFill>
          <a:blip r:embed="rId2"/>
          <a:srcRect t="10475" b="10475"/>
          <a:stretch>
            <a:fillRect/>
          </a:stretch>
        </p:blipFill>
        <p:spPr>
          <a:xfrm>
            <a:off x="658368" y="1737360"/>
            <a:ext cx="10881360" cy="423367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932688" y="1975104"/>
            <a:ext cx="841248" cy="310896"/>
          </a:xfrm>
          <a:prstGeom prst="roundRect">
            <a:avLst/>
          </a:prstGeom>
          <a:solidFill>
            <a:srgbClr val="0B1220"/>
          </a:solidFill>
          <a:ln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984248"/>
            <a:ext cx="84124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Noto Sans"/>
              </a:rPr>
              <a:t>THEO KỲ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66760" y="1975104"/>
            <a:ext cx="969264" cy="310896"/>
          </a:xfrm>
          <a:prstGeom prst="roundRect">
            <a:avLst/>
          </a:prstGeom>
          <a:solidFill>
            <a:srgbClr val="0B1220"/>
          </a:solidFill>
          <a:ln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66760" y="1984248"/>
            <a:ext cx="96926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Noto Sans"/>
              </a:rPr>
              <a:t>OKR / KPI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473184" y="1975104"/>
            <a:ext cx="1280160" cy="310896"/>
          </a:xfrm>
          <a:prstGeom prst="roundRect">
            <a:avLst/>
          </a:prstGeom>
          <a:solidFill>
            <a:srgbClr val="0B1220"/>
          </a:solidFill>
          <a:ln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73184" y="198424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06B6D4"/>
                </a:solidFill>
                <a:latin typeface="Noto Sans"/>
              </a:rPr>
              <a:t>AI ADVISORY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94360" y="6510528"/>
            <a:ext cx="11000232" cy="0"/>
          </a:xfrm>
          <a:prstGeom prst="line">
            <a:avLst/>
          </a:prstGeom>
          <a:ln w="8890">
            <a:solidFill>
              <a:srgbClr val="DDE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94360" y="6565392"/>
            <a:ext cx="4572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64748B"/>
                </a:solidFill>
                <a:latin typeface="Noto Sans"/>
              </a:rPr>
              <a:t>GIAO DIỆN THỰC TẾ · DASHBOARD THEO PHẠM VI NGƯỜI DÙNG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384048"/>
            <a:ext cx="1417320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9319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F46E5"/>
                </a:solidFill>
                <a:latin typeface="Noto Sans"/>
              </a:rPr>
              <a:t>MỤC TIÊU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37392" y="3383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64748B"/>
                </a:solidFill>
                <a:latin typeface="Noto Sans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972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F172A"/>
                </a:solidFill>
                <a:latin typeface="Noto Sans"/>
              </a:rPr>
              <a:t>Từ Objective đến KPI có target, trọng số và người chịu trách nhiệm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719072"/>
            <a:ext cx="5486400" cy="273405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creenshot_okrs.png"/>
          <p:cNvPicPr>
            <a:picLocks noChangeAspect="1"/>
          </p:cNvPicPr>
          <p:nvPr/>
        </p:nvPicPr>
        <p:blipFill>
          <a:blip r:embed="rId2"/>
          <a:srcRect t="64" b="64"/>
          <a:stretch>
            <a:fillRect/>
          </a:stretch>
        </p:blipFill>
        <p:spPr>
          <a:xfrm>
            <a:off x="621792" y="1755648"/>
            <a:ext cx="5413248" cy="266090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126480" y="1719072"/>
            <a:ext cx="5486400" cy="273405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creenshot_kpis.png"/>
          <p:cNvPicPr>
            <a:picLocks noChangeAspect="1"/>
          </p:cNvPicPr>
          <p:nvPr/>
        </p:nvPicPr>
        <p:blipFill>
          <a:blip r:embed="rId3"/>
          <a:srcRect t="64" b="64"/>
          <a:stretch>
            <a:fillRect/>
          </a:stretch>
        </p:blipFill>
        <p:spPr>
          <a:xfrm>
            <a:off x="6163056" y="1755648"/>
            <a:ext cx="5413248" cy="266090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1938528"/>
            <a:ext cx="1417320" cy="310896"/>
          </a:xfrm>
          <a:prstGeom prst="roundRect">
            <a:avLst/>
          </a:prstGeom>
          <a:solidFill>
            <a:srgbClr val="0B1220"/>
          </a:solidFill>
          <a:ln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94767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Noto Sans"/>
              </a:rPr>
              <a:t>OKR / KEY RESULTS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64224" y="1938528"/>
            <a:ext cx="1417320" cy="310896"/>
          </a:xfrm>
          <a:prstGeom prst="roundRect">
            <a:avLst/>
          </a:prstGeom>
          <a:solidFill>
            <a:srgbClr val="0B1220"/>
          </a:solidFill>
          <a:ln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4224" y="194767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Noto Sans"/>
              </a:rPr>
              <a:t>KPI / ASSIGNMENT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4828032"/>
            <a:ext cx="1572768" cy="603504"/>
          </a:xfrm>
          <a:prstGeom prst="roundRect">
            <a:avLst/>
          </a:prstGeom>
          <a:solidFill>
            <a:srgbClr val="EEF2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020056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Noto Sans"/>
              </a:rPr>
              <a:t>Objective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32888" y="5001768"/>
            <a:ext cx="51206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94A3B8"/>
                </a:solidFill>
                <a:latin typeface="Noto Sans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127248" y="4828032"/>
            <a:ext cx="1572768" cy="603504"/>
          </a:xfrm>
          <a:prstGeom prst="roundRect">
            <a:avLst/>
          </a:prstGeom>
          <a:solidFill>
            <a:srgbClr val="EEF2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27248" y="5020056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Noto Sans"/>
              </a:rPr>
              <a:t>Key Result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45736" y="5001768"/>
            <a:ext cx="51206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94A3B8"/>
                </a:solidFill>
                <a:latin typeface="Noto Sans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40096" y="4828032"/>
            <a:ext cx="1572768" cy="603504"/>
          </a:xfrm>
          <a:prstGeom prst="roundRect">
            <a:avLst/>
          </a:prstGeom>
          <a:solidFill>
            <a:srgbClr val="EEF2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40096" y="5020056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Noto Sans"/>
              </a:rPr>
              <a:t>KPI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58583" y="5001768"/>
            <a:ext cx="51206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94A3B8"/>
                </a:solidFill>
                <a:latin typeface="Noto Sans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52944" y="4828032"/>
            <a:ext cx="1572768" cy="603504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52944" y="5020056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0F766E"/>
                </a:solidFill>
                <a:latin typeface="Noto Sans"/>
              </a:rPr>
              <a:t>Assignee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71432" y="5001768"/>
            <a:ext cx="51206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94A3B8"/>
                </a:solidFill>
                <a:latin typeface="Noto Sans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765792" y="4828032"/>
            <a:ext cx="1572768" cy="603504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65792" y="5020056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0F766E"/>
                </a:solidFill>
                <a:latin typeface="Noto Sans"/>
              </a:rPr>
              <a:t>Check-in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8" y="5779008"/>
            <a:ext cx="10698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475569"/>
                </a:solidFill>
                <a:latin typeface="Noto Sans"/>
              </a:rPr>
              <a:t>Liên kết được lưu trong mô hình dữ liệu và kiểm tra lại ở server — không phụ thuộc dữ liệu browser.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94360" y="6510528"/>
            <a:ext cx="11000232" cy="0"/>
          </a:xfrm>
          <a:prstGeom prst="line">
            <a:avLst/>
          </a:prstGeom>
          <a:ln w="8890">
            <a:solidFill>
              <a:srgbClr val="DDE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94360" y="6565392"/>
            <a:ext cx="4572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64748B"/>
                </a:solidFill>
                <a:latin typeface="Noto Sans"/>
              </a:rPr>
              <a:t>NEXTGEN · BIZEN AI-NATIVE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384048"/>
            <a:ext cx="1417320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9319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F46E5"/>
                </a:solidFill>
                <a:latin typeface="Noto Sans"/>
              </a:rPr>
              <a:t>THỰC THI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37392" y="3383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64748B"/>
                </a:solidFill>
                <a:latin typeface="Noto Sans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972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F172A"/>
                </a:solidFill>
                <a:latin typeface="Noto Sans"/>
              </a:rPr>
              <a:t>Check-in có lịch sử, công thức server và cổng phê duyệt của con người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3" y="1755648"/>
            <a:ext cx="7132320" cy="427939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creenshot_checkin.png"/>
          <p:cNvPicPr>
            <a:picLocks noChangeAspect="1"/>
          </p:cNvPicPr>
          <p:nvPr/>
        </p:nvPicPr>
        <p:blipFill>
          <a:blip r:embed="rId2"/>
          <a:srcRect l="8699" r="8699"/>
          <a:stretch>
            <a:fillRect/>
          </a:stretch>
        </p:blipFill>
        <p:spPr>
          <a:xfrm>
            <a:off x="640080" y="1792224"/>
            <a:ext cx="7059168" cy="42062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973568" y="1856231"/>
            <a:ext cx="3529584" cy="83210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973568" y="1856231"/>
            <a:ext cx="64008" cy="832104"/>
          </a:xfrm>
          <a:prstGeom prst="rect">
            <a:avLst/>
          </a:prstGeom>
          <a:solidFill>
            <a:srgbClr val="4F46E5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174736" y="2039112"/>
            <a:ext cx="438912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74736" y="2048255"/>
            <a:ext cx="43891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F46E5"/>
                </a:solidFill>
                <a:latin typeface="Noto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23376" y="2039112"/>
            <a:ext cx="257860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Nhân viên báo cáo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468879"/>
            <a:ext cx="3054096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75569"/>
                </a:solidFill>
                <a:latin typeface="Noto Sans"/>
              </a:rPr>
              <a:t>Giá trị đạt được + rào cản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73568" y="2834639"/>
            <a:ext cx="3529584" cy="83210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73568" y="2834639"/>
            <a:ext cx="64008" cy="832104"/>
          </a:xfrm>
          <a:prstGeom prst="rect">
            <a:avLst/>
          </a:prstGeom>
          <a:solidFill>
            <a:srgbClr val="4F46E5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74736" y="3017520"/>
            <a:ext cx="438912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74736" y="3026663"/>
            <a:ext cx="43891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F46E5"/>
                </a:solidFill>
                <a:latin typeface="Noto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23376" y="3017520"/>
            <a:ext cx="257860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Server tính tiến độ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3447287"/>
            <a:ext cx="3054096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75569"/>
                </a:solidFill>
                <a:latin typeface="Noto Sans"/>
              </a:rPr>
              <a:t>Target, trọng số, KPI thuận/nghịch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73568" y="3813048"/>
            <a:ext cx="3529584" cy="83210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973568" y="3813048"/>
            <a:ext cx="64008" cy="832104"/>
          </a:xfrm>
          <a:prstGeom prst="rect">
            <a:avLst/>
          </a:prstGeom>
          <a:solidFill>
            <a:srgbClr val="4F46E5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174736" y="3995928"/>
            <a:ext cx="438912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74736" y="4005072"/>
            <a:ext cx="43891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F46E5"/>
                </a:solidFill>
                <a:latin typeface="Noto San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23376" y="3995928"/>
            <a:ext cx="257860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Quản lý review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4425696"/>
            <a:ext cx="3054096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75569"/>
                </a:solidFill>
                <a:latin typeface="Noto Sans"/>
              </a:rPr>
              <a:t>Điểm, nhận xét, approve/reject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73568" y="4791456"/>
            <a:ext cx="3529584" cy="83210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973568" y="4791456"/>
            <a:ext cx="64008" cy="832104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174736" y="4974336"/>
            <a:ext cx="438912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74736" y="4983480"/>
            <a:ext cx="43891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16A34A"/>
                </a:solidFill>
                <a:latin typeface="Noto Sans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23376" y="4974336"/>
            <a:ext cx="257860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Snapshot chính thức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0" y="5404104"/>
            <a:ext cx="3054096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75569"/>
                </a:solidFill>
                <a:latin typeface="Noto Sans"/>
              </a:rPr>
              <a:t>Chỉ Approved mới làm baseline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73568" y="5687568"/>
            <a:ext cx="3529584" cy="438912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ECF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73568" y="5806440"/>
            <a:ext cx="35295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6A34A"/>
                </a:solidFill>
                <a:latin typeface="Noto Sans"/>
              </a:rPr>
              <a:t>Human approval là cổng cuối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94360" y="6510528"/>
            <a:ext cx="11000232" cy="0"/>
          </a:xfrm>
          <a:prstGeom prst="line">
            <a:avLst/>
          </a:prstGeom>
          <a:ln w="8890">
            <a:solidFill>
              <a:srgbClr val="DDE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94360" y="6565392"/>
            <a:ext cx="4572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64748B"/>
                </a:solidFill>
                <a:latin typeface="Noto Sans"/>
              </a:rPr>
              <a:t>NEXTGEN · BIZEN AI-NATIVE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384048"/>
            <a:ext cx="1417320" cy="310896"/>
          </a:xfrm>
          <a:prstGeom prst="roundRect">
            <a:avLst/>
          </a:prstGeom>
          <a:solidFill>
            <a:srgbClr val="111C33"/>
          </a:solidFill>
          <a:ln>
            <a:solidFill>
              <a:srgbClr val="111C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9319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6B6D4"/>
                </a:solidFill>
                <a:latin typeface="Noto Sans"/>
              </a:rPr>
              <a:t>AI-NATIVE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37392" y="3383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CBD5E1"/>
                </a:solidFill>
                <a:latin typeface="Noto Sans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972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FFFFF"/>
                </a:solidFill>
                <a:latin typeface="Noto Sans"/>
              </a:rPr>
              <a:t>AI đề xuất, con người quyết định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53312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CBD5E1"/>
                </a:solidFill>
                <a:latin typeface="Noto Sans"/>
              </a:rPr>
              <a:t>Nguyên tắc xuyên suốt mọi advisor và workflow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1810512"/>
            <a:ext cx="6062472" cy="348386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creenshot_ai.png"/>
          <p:cNvPicPr>
            <a:picLocks noChangeAspect="1"/>
          </p:cNvPicPr>
          <p:nvPr/>
        </p:nvPicPr>
        <p:blipFill>
          <a:blip r:embed="rId2"/>
          <a:srcRect l="6785" r="6785"/>
          <a:stretch>
            <a:fillRect/>
          </a:stretch>
        </p:blipFill>
        <p:spPr>
          <a:xfrm>
            <a:off x="658368" y="1847088"/>
            <a:ext cx="5989320" cy="3410712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022592" y="1874519"/>
            <a:ext cx="4443984" cy="804672"/>
          </a:xfrm>
          <a:prstGeom prst="roundRect">
            <a:avLst/>
          </a:prstGeom>
          <a:solidFill>
            <a:srgbClr val="111C33"/>
          </a:solidFill>
          <a:ln w="1016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223760" y="2093976"/>
            <a:ext cx="749808" cy="310896"/>
          </a:xfrm>
          <a:prstGeom prst="roundRect">
            <a:avLst/>
          </a:prstGeom>
          <a:solidFill>
            <a:srgbClr val="0B1220"/>
          </a:solidFill>
          <a:ln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0" y="2103120"/>
            <a:ext cx="74980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19" b="1">
                <a:solidFill>
                  <a:srgbClr val="7C3AED"/>
                </a:solidFill>
                <a:latin typeface="Noto Sans"/>
              </a:rPr>
              <a:t>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74736" y="1993391"/>
            <a:ext cx="2999232" cy="521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>
                <a:solidFill>
                  <a:srgbClr val="FFFFFF"/>
                </a:solidFill>
                <a:latin typeface="Noto Sans"/>
              </a:rPr>
              <a:t>Sinh draft có cấu trúc
và source ID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22592" y="2898648"/>
            <a:ext cx="4443984" cy="804672"/>
          </a:xfrm>
          <a:prstGeom prst="roundRect">
            <a:avLst/>
          </a:prstGeom>
          <a:solidFill>
            <a:srgbClr val="111C33"/>
          </a:solidFill>
          <a:ln w="1016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223760" y="3118104"/>
            <a:ext cx="749808" cy="310896"/>
          </a:xfrm>
          <a:prstGeom prst="roundRect">
            <a:avLst/>
          </a:prstGeom>
          <a:solidFill>
            <a:srgbClr val="0B1220"/>
          </a:solidFill>
          <a:ln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23760" y="3127248"/>
            <a:ext cx="74980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19" b="1">
                <a:solidFill>
                  <a:srgbClr val="06B6D4"/>
                </a:solidFill>
                <a:latin typeface="Noto Sans"/>
              </a:rPr>
              <a:t>SERVER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74736" y="3017520"/>
            <a:ext cx="2999232" cy="521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>
                <a:solidFill>
                  <a:srgbClr val="FFFFFF"/>
                </a:solidFill>
                <a:latin typeface="Noto Sans"/>
              </a:rPr>
              <a:t>Kiểm schema · quyền
nguồn · fingerprint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022592" y="3922776"/>
            <a:ext cx="4443984" cy="804672"/>
          </a:xfrm>
          <a:prstGeom prst="roundRect">
            <a:avLst/>
          </a:prstGeom>
          <a:solidFill>
            <a:srgbClr val="111C33"/>
          </a:solidFill>
          <a:ln w="1016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223760" y="4142232"/>
            <a:ext cx="749808" cy="310896"/>
          </a:xfrm>
          <a:prstGeom prst="roundRect">
            <a:avLst/>
          </a:prstGeom>
          <a:solidFill>
            <a:srgbClr val="0B1220"/>
          </a:solidFill>
          <a:ln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23760" y="4151376"/>
            <a:ext cx="74980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19" b="1">
                <a:solidFill>
                  <a:srgbClr val="16A34A"/>
                </a:solidFill>
                <a:latin typeface="Noto Sans"/>
              </a:rPr>
              <a:t>HUMAN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74736" y="4041648"/>
            <a:ext cx="2999232" cy="521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>
                <a:solidFill>
                  <a:srgbClr val="FFFFFF"/>
                </a:solidFill>
                <a:latin typeface="Noto Sans"/>
              </a:rPr>
              <a:t>Xem · sửa · chấp nhận
hoặc từ chối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22592" y="4946904"/>
            <a:ext cx="4443984" cy="804672"/>
          </a:xfrm>
          <a:prstGeom prst="roundRect">
            <a:avLst/>
          </a:prstGeom>
          <a:solidFill>
            <a:srgbClr val="111C33"/>
          </a:solidFill>
          <a:ln w="1016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223760" y="5166360"/>
            <a:ext cx="749808" cy="310896"/>
          </a:xfrm>
          <a:prstGeom prst="roundRect">
            <a:avLst/>
          </a:prstGeom>
          <a:solidFill>
            <a:srgbClr val="0B1220"/>
          </a:solidFill>
          <a:ln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60" y="5175504"/>
            <a:ext cx="74980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19" b="1">
                <a:solidFill>
                  <a:srgbClr val="4F46E5"/>
                </a:solidFill>
                <a:latin typeface="Noto Sans"/>
              </a:rPr>
              <a:t>WORKFLOW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74736" y="5065776"/>
            <a:ext cx="2999232" cy="521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>
                <a:solidFill>
                  <a:srgbClr val="FFFFFF"/>
                </a:solidFill>
                <a:latin typeface="Noto Sans"/>
              </a:rPr>
              <a:t>Form chuẩn mới ghi
dữ liệu chính thức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5760720"/>
            <a:ext cx="10698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CBD5E1"/>
                </a:solidFill>
                <a:latin typeface="Noto Sans"/>
              </a:rPr>
              <a:t>Không AI nào tự duyệt KPI/OKR, tự sửa điểm, xếp hạng hay thưởng.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384048"/>
            <a:ext cx="1417320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9319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F46E5"/>
                </a:solidFill>
                <a:latin typeface="Noto Sans"/>
              </a:rPr>
              <a:t>PHẠM VI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37392" y="3383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64748B"/>
                </a:solidFill>
                <a:latin typeface="Noto Sans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972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F172A"/>
                </a:solidFill>
                <a:latin typeface="Noto Sans"/>
              </a:rPr>
              <a:t>Chín luồng cố vấn đã hội tụ về cùng một kiến trúc kiểm soát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47088"/>
            <a:ext cx="3401568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0392" y="2011680"/>
            <a:ext cx="411480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202082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4F46E5"/>
                </a:solidFill>
                <a:latin typeface="Noto San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99032" y="1993392"/>
            <a:ext cx="24505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40" b="1">
                <a:solidFill>
                  <a:srgbClr val="0F172A"/>
                </a:solidFill>
                <a:latin typeface="Noto Sans"/>
              </a:rPr>
              <a:t>Goal Planning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2368296"/>
            <a:ext cx="2450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>
                <a:solidFill>
                  <a:srgbClr val="64748B"/>
                </a:solidFill>
                <a:latin typeface="Noto Sans"/>
              </a:rPr>
              <a:t>Ba task plan có nguồn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16552" y="1847088"/>
            <a:ext cx="3401568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81144" y="2011680"/>
            <a:ext cx="411480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81144" y="202082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7C3AED"/>
                </a:solidFill>
                <a:latin typeface="Noto San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9784" y="1993392"/>
            <a:ext cx="24505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40" b="1">
                <a:solidFill>
                  <a:srgbClr val="0F172A"/>
                </a:solidFill>
                <a:latin typeface="Noto Sans"/>
              </a:rPr>
              <a:t>Check-in Evaluator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9784" y="2368296"/>
            <a:ext cx="2450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>
                <a:solidFill>
                  <a:srgbClr val="64748B"/>
                </a:solidFill>
                <a:latin typeface="Noto Sans"/>
              </a:rPr>
              <a:t>Định lượng + rubric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47304" y="1847088"/>
            <a:ext cx="3401568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11896" y="2011680"/>
            <a:ext cx="411480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11896" y="202082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06B6D4"/>
                </a:solidFill>
                <a:latin typeface="Noto Sans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0536" y="1993392"/>
            <a:ext cx="24505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40" b="1">
                <a:solidFill>
                  <a:srgbClr val="0F172A"/>
                </a:solidFill>
                <a:latin typeface="Noto Sans"/>
              </a:rPr>
              <a:t>KR Advisor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0536" y="2368296"/>
            <a:ext cx="2450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>
                <a:solidFill>
                  <a:srgbClr val="64748B"/>
                </a:solidFill>
                <a:latin typeface="Noto Sans"/>
              </a:rPr>
              <a:t>Đánh giá candidate KR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3108960"/>
            <a:ext cx="3401568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50392" y="3273552"/>
            <a:ext cx="411480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328269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0F766E"/>
                </a:solidFill>
                <a:latin typeface="Noto Sans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99032" y="3255264"/>
            <a:ext cx="24505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40" b="1">
                <a:solidFill>
                  <a:srgbClr val="0F172A"/>
                </a:solidFill>
                <a:latin typeface="Noto Sans"/>
              </a:rPr>
              <a:t>Review Draft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2" y="3630168"/>
            <a:ext cx="2450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>
                <a:solidFill>
                  <a:srgbClr val="64748B"/>
                </a:solidFill>
                <a:latin typeface="Noto Sans"/>
              </a:rPr>
              <a:t>Nháp nhận xét 1-on-1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16552" y="3108960"/>
            <a:ext cx="3401568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581144" y="3273552"/>
            <a:ext cx="411480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81144" y="328269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16A34A"/>
                </a:solidFill>
                <a:latin typeface="Noto Sans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9784" y="3255264"/>
            <a:ext cx="24505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40" b="1">
                <a:solidFill>
                  <a:srgbClr val="0F172A"/>
                </a:solidFill>
                <a:latin typeface="Noto Sans"/>
              </a:rPr>
              <a:t>Customer Segment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29784" y="3630168"/>
            <a:ext cx="2450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>
                <a:solidFill>
                  <a:srgbClr val="64748B"/>
                </a:solidFill>
                <a:latin typeface="Noto Sans"/>
              </a:rPr>
              <a:t>Phân khúc tham khảo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47304" y="3108960"/>
            <a:ext cx="3401568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311896" y="3273552"/>
            <a:ext cx="411480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11896" y="328269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59E0B"/>
                </a:solidFill>
                <a:latin typeface="Noto Sans"/>
              </a:rPr>
              <a:t>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60536" y="3255264"/>
            <a:ext cx="24505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40" b="1">
                <a:solidFill>
                  <a:srgbClr val="0F172A"/>
                </a:solidFill>
                <a:latin typeface="Noto Sans"/>
              </a:rPr>
              <a:t>Performance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60536" y="3630168"/>
            <a:ext cx="2450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>
                <a:solidFill>
                  <a:srgbClr val="64748B"/>
                </a:solidFill>
                <a:latin typeface="Noto Sans"/>
              </a:rPr>
              <a:t>Insight từ check-in duyệt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85800" y="4370831"/>
            <a:ext cx="3401568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50392" y="4535423"/>
            <a:ext cx="411480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0392" y="4544567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4F46E5"/>
                </a:solidFill>
                <a:latin typeface="Noto Sans"/>
              </a:rPr>
              <a:t>07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99032" y="4517136"/>
            <a:ext cx="24505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40" b="1">
                <a:solidFill>
                  <a:srgbClr val="0F172A"/>
                </a:solidFill>
                <a:latin typeface="Noto Sans"/>
              </a:rPr>
              <a:t>KPI Suggestion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99032" y="4892040"/>
            <a:ext cx="2450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>
                <a:solidFill>
                  <a:srgbClr val="64748B"/>
                </a:solidFill>
                <a:latin typeface="Noto Sans"/>
              </a:rPr>
              <a:t>3–5 KPI draft hợp lệ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416552" y="4370831"/>
            <a:ext cx="3401568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581144" y="4535423"/>
            <a:ext cx="411480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81144" y="4544567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7C3AED"/>
                </a:solidFill>
                <a:latin typeface="Noto Sans"/>
              </a:rPr>
              <a:t>08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29784" y="4517136"/>
            <a:ext cx="24505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40" b="1">
                <a:solidFill>
                  <a:srgbClr val="0F172A"/>
                </a:solidFill>
                <a:latin typeface="Noto Sans"/>
              </a:rPr>
              <a:t>Chat Advisor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9784" y="4892040"/>
            <a:ext cx="2450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>
                <a:solidFill>
                  <a:srgbClr val="64748B"/>
                </a:solidFill>
                <a:latin typeface="Noto Sans"/>
              </a:rPr>
              <a:t>Hỏi đáp có citation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147304" y="4370831"/>
            <a:ext cx="3401568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8311896" y="4535423"/>
            <a:ext cx="411480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311896" y="4544567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06B6D4"/>
                </a:solidFill>
                <a:latin typeface="Noto Sans"/>
              </a:rPr>
              <a:t>09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860536" y="4517136"/>
            <a:ext cx="24505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40" b="1">
                <a:solidFill>
                  <a:srgbClr val="0F172A"/>
                </a:solidFill>
                <a:latin typeface="Noto Sans"/>
              </a:rPr>
              <a:t>KR Suggestion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60536" y="4892040"/>
            <a:ext cx="2450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>
                <a:solidFill>
                  <a:srgbClr val="64748B"/>
                </a:solidFill>
                <a:latin typeface="Noto Sans"/>
              </a:rPr>
              <a:t>Gợi ý/refine KR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85800" y="5797296"/>
            <a:ext cx="10863072" cy="384048"/>
          </a:xfrm>
          <a:prstGeom prst="roundRect">
            <a:avLst/>
          </a:prstGeom>
          <a:solidFill>
            <a:srgbClr val="EEF2FF"/>
          </a:solidFill>
          <a:ln w="10160"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41248" y="5897880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40" b="1">
                <a:solidFill>
                  <a:srgbClr val="4F46E5"/>
                </a:solidFill>
                <a:latin typeface="Noto Sans"/>
              </a:rPr>
              <a:t>Mẫu chung: authorized snapshot → strict JSON → validate → recheck source → human action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594360" y="6510528"/>
            <a:ext cx="11000232" cy="0"/>
          </a:xfrm>
          <a:prstGeom prst="line">
            <a:avLst/>
          </a:prstGeom>
          <a:ln w="8890">
            <a:solidFill>
              <a:srgbClr val="DDE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594360" y="6565392"/>
            <a:ext cx="4572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64748B"/>
                </a:solidFill>
                <a:latin typeface="Noto Sans"/>
              </a:rPr>
              <a:t>NEXTGEN · BIZEN AI-NATIVE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384048"/>
            <a:ext cx="1417320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9319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F46E5"/>
                </a:solidFill>
                <a:latin typeface="Noto Sans"/>
              </a:rPr>
              <a:t>BẰNG CHỨNG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37392" y="3383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64748B"/>
                </a:solidFill>
                <a:latin typeface="Noto Sans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972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F172A"/>
                </a:solidFill>
                <a:latin typeface="Noto Sans"/>
              </a:rPr>
              <a:t>Advisor chỉ dùng nguồn được cấp quyền và có thể truy vết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50992" y="1719072"/>
            <a:ext cx="5943600" cy="4343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equence_ai.png"/>
          <p:cNvPicPr>
            <a:picLocks noChangeAspect="1"/>
          </p:cNvPicPr>
          <p:nvPr/>
        </p:nvPicPr>
        <p:blipFill>
          <a:blip r:embed="rId2"/>
          <a:srcRect l="10" r="10"/>
          <a:stretch>
            <a:fillRect/>
          </a:stretch>
        </p:blipFill>
        <p:spPr>
          <a:xfrm>
            <a:off x="5687568" y="1755648"/>
            <a:ext cx="5870448" cy="42702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13232" y="1856231"/>
            <a:ext cx="411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4F46E5"/>
                </a:solidFill>
                <a:latin typeface="Noto San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1828800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30" b="1">
                <a:solidFill>
                  <a:srgbClr val="0F172A"/>
                </a:solidFill>
                <a:latin typeface="Noto Sans"/>
              </a:rPr>
              <a:t>Authorized snapshot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2121408"/>
            <a:ext cx="404164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>
                <a:solidFill>
                  <a:srgbClr val="475569"/>
                </a:solidFill>
                <a:latin typeface="Noto Sans"/>
              </a:rPr>
              <a:t>Server dựng scope kỳ, OKR/KPI và tenant.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232" y="2514600"/>
            <a:ext cx="4553712" cy="0"/>
          </a:xfrm>
          <a:prstGeom prst="line">
            <a:avLst/>
          </a:prstGeom>
          <a:ln w="8890">
            <a:solidFill>
              <a:srgbClr val="DDE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13232" y="2660903"/>
            <a:ext cx="411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4F46E5"/>
                </a:solidFill>
                <a:latin typeface="Noto San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61872" y="2633472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30" b="1">
                <a:solidFill>
                  <a:srgbClr val="0F172A"/>
                </a:solidFill>
                <a:latin typeface="Noto Sans"/>
              </a:rPr>
              <a:t>Strict contract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2926079"/>
            <a:ext cx="404164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>
                <a:solidFill>
                  <a:srgbClr val="475569"/>
                </a:solidFill>
                <a:latin typeface="Noto Sans"/>
              </a:rPr>
              <a:t>Model chỉ trả JSON + source IDs được cấp.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13232" y="3319272"/>
            <a:ext cx="4553712" cy="0"/>
          </a:xfrm>
          <a:prstGeom prst="line">
            <a:avLst/>
          </a:prstGeom>
          <a:ln w="8890">
            <a:solidFill>
              <a:srgbClr val="DDE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13232" y="3465575"/>
            <a:ext cx="411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4F46E5"/>
                </a:solidFill>
                <a:latin typeface="Noto Sans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61872" y="3438144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30" b="1">
                <a:solidFill>
                  <a:srgbClr val="0F172A"/>
                </a:solidFill>
                <a:latin typeface="Noto Sans"/>
              </a:rPr>
              <a:t>Citation metadata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3730752"/>
            <a:ext cx="404164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>
                <a:solidFill>
                  <a:srgbClr val="475569"/>
                </a:solidFill>
                <a:latin typeface="Noto Sans"/>
              </a:rPr>
              <a:t>Lưu ID/hash để audit, không lưu prompt thô.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13232" y="4123944"/>
            <a:ext cx="4553712" cy="0"/>
          </a:xfrm>
          <a:prstGeom prst="line">
            <a:avLst/>
          </a:prstGeom>
          <a:ln w="8890">
            <a:solidFill>
              <a:srgbClr val="DDE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13232" y="4270248"/>
            <a:ext cx="411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4F46E5"/>
                </a:solidFill>
                <a:latin typeface="Noto Sans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1872" y="4242816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30" b="1">
                <a:solidFill>
                  <a:srgbClr val="0F172A"/>
                </a:solidFill>
                <a:latin typeface="Noto Sans"/>
              </a:rPr>
              <a:t>Stale-safe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61872" y="4535424"/>
            <a:ext cx="404164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>
                <a:solidFill>
                  <a:srgbClr val="475569"/>
                </a:solidFill>
                <a:latin typeface="Noto Sans"/>
              </a:rPr>
              <a:t>Dựng lại snapshot trong transaction trước commit.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13232" y="4928616"/>
            <a:ext cx="4553712" cy="0"/>
          </a:xfrm>
          <a:prstGeom prst="line">
            <a:avLst/>
          </a:prstGeom>
          <a:ln w="8890">
            <a:solidFill>
              <a:srgbClr val="DDE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13232" y="5074920"/>
            <a:ext cx="411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4F46E5"/>
                </a:solidFill>
                <a:latin typeface="Noto Sans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61872" y="5047488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30" b="1">
                <a:solidFill>
                  <a:srgbClr val="0F172A"/>
                </a:solidFill>
                <a:latin typeface="Noto Sans"/>
              </a:rPr>
              <a:t>Abstain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61872" y="5340096"/>
            <a:ext cx="404164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>
                <a:solidFill>
                  <a:srgbClr val="475569"/>
                </a:solidFill>
                <a:latin typeface="Noto Sans"/>
              </a:rPr>
              <a:t>Thiếu bằng chứng thì trả rỗng, không đoán.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13232" y="5733288"/>
            <a:ext cx="4553712" cy="0"/>
          </a:xfrm>
          <a:prstGeom prst="line">
            <a:avLst/>
          </a:prstGeom>
          <a:ln w="8890">
            <a:solidFill>
              <a:srgbClr val="DDE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94360" y="6510528"/>
            <a:ext cx="11000232" cy="0"/>
          </a:xfrm>
          <a:prstGeom prst="line">
            <a:avLst/>
          </a:prstGeom>
          <a:ln w="8890">
            <a:solidFill>
              <a:srgbClr val="DDE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94360" y="6565392"/>
            <a:ext cx="4572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64748B"/>
                </a:solidFill>
                <a:latin typeface="Noto Sans"/>
              </a:rPr>
              <a:t>RAG PIPELINE: PRIVATE BLOB → MINERU → BGE-M3 → AZURE AI SEARCH → ACL FILTER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384048"/>
            <a:ext cx="1417320" cy="310896"/>
          </a:xfrm>
          <a:prstGeom prst="roundRect">
            <a:avLst/>
          </a:prstGeom>
          <a:solidFill>
            <a:srgbClr val="111C33"/>
          </a:solidFill>
          <a:ln>
            <a:solidFill>
              <a:srgbClr val="111C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9319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6B6D4"/>
                </a:solidFill>
                <a:latin typeface="Noto Sans"/>
              </a:rPr>
              <a:t>ĐỘ TIN CẬY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37392" y="3383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CBD5E1"/>
                </a:solidFill>
                <a:latin typeface="Noto Sans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972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FFFFF"/>
                </a:solidFill>
                <a:latin typeface="Noto Sans"/>
              </a:rPr>
              <a:t>Bảo vệ dữ liệu và xử lý bền vững ngay trong kiến trúc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8" y="1828800"/>
            <a:ext cx="2240280" cy="10515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975104"/>
            <a:ext cx="183794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6B6D4"/>
                </a:solidFill>
                <a:latin typeface="Noto Sans"/>
              </a:rPr>
              <a:t>57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2395728"/>
            <a:ext cx="1837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F172A"/>
                </a:solidFill>
                <a:latin typeface="Noto Sans"/>
              </a:rPr>
              <a:t>bảng có SQL Server RLS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2633472"/>
            <a:ext cx="18379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4748B"/>
                </a:solidFill>
                <a:latin typeface="Noto Sans"/>
              </a:rPr>
              <a:t>filter + block predicate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0" y="1828800"/>
            <a:ext cx="2240280" cy="10515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01568" y="1975104"/>
            <a:ext cx="183794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7C3AED"/>
                </a:solidFill>
                <a:latin typeface="Noto Sans"/>
              </a:rPr>
              <a:t>100%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01568" y="2395728"/>
            <a:ext cx="1837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F172A"/>
                </a:solidFill>
                <a:latin typeface="Noto Sans"/>
              </a:rPr>
              <a:t>scope do server xác định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01568" y="2633472"/>
            <a:ext cx="18379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4748B"/>
                </a:solidFill>
                <a:latin typeface="Noto Sans"/>
              </a:rPr>
              <a:t>không nhận TenantId từ browser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50992" y="1828800"/>
            <a:ext cx="2240280" cy="10515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59" y="1975104"/>
            <a:ext cx="183794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6A34A"/>
                </a:solidFill>
                <a:latin typeface="Noto Sans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59" y="2395728"/>
            <a:ext cx="1837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F172A"/>
                </a:solidFill>
                <a:latin typeface="Noto Sans"/>
              </a:rPr>
              <a:t>human gate trước write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59" y="2633472"/>
            <a:ext cx="18379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4748B"/>
                </a:solidFill>
                <a:latin typeface="Noto Sans"/>
              </a:rPr>
              <a:t>form nghiệp vụ chuẩn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01583" y="1828800"/>
            <a:ext cx="2788920" cy="10515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2752" y="1975104"/>
            <a:ext cx="238658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59E0B"/>
                </a:solidFill>
                <a:latin typeface="Noto Sans"/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2752" y="2395728"/>
            <a:ext cx="238658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F172A"/>
                </a:solidFill>
                <a:latin typeface="Noto Sans"/>
              </a:rPr>
              <a:t>prompt/raw response lưu mới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2752" y="2633472"/>
            <a:ext cx="238658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4748B"/>
                </a:solidFill>
                <a:latin typeface="Noto Sans"/>
              </a:rPr>
              <a:t>chỉ metadata kiểm toán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9808" y="3246120"/>
            <a:ext cx="5166360" cy="2304288"/>
          </a:xfrm>
          <a:prstGeom prst="roundRect">
            <a:avLst/>
          </a:prstGeom>
          <a:solidFill>
            <a:srgbClr val="111C33"/>
          </a:solidFill>
          <a:ln w="1016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3493008"/>
            <a:ext cx="1389888" cy="310896"/>
          </a:xfrm>
          <a:prstGeom prst="roundRect">
            <a:avLst/>
          </a:prstGeom>
          <a:solidFill>
            <a:srgbClr val="0B1220"/>
          </a:solidFill>
          <a:ln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7552" y="3502151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06B6D4"/>
                </a:solidFill>
                <a:latin typeface="Noto Sans"/>
              </a:rPr>
              <a:t>TENANT DEFENSE</a:t>
            </a:r>
          </a:p>
        </p:txBody>
      </p:sp>
      <p:sp>
        <p:nvSpPr>
          <p:cNvPr id="25" name="Oval 24"/>
          <p:cNvSpPr/>
          <p:nvPr/>
        </p:nvSpPr>
        <p:spPr>
          <a:xfrm>
            <a:off x="987552" y="4032504"/>
            <a:ext cx="109728" cy="109728"/>
          </a:xfrm>
          <a:prstGeom prst="ellipse">
            <a:avLst/>
          </a:prstGeom>
          <a:solidFill>
            <a:srgbClr val="06B6D4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07008" y="3959352"/>
            <a:ext cx="435254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FFFFFF"/>
                </a:solidFill>
                <a:latin typeface="Noto Sans"/>
              </a:rPr>
              <a:t>Tenant query filters + composite tenant foreign keys</a:t>
            </a:r>
          </a:p>
        </p:txBody>
      </p:sp>
      <p:sp>
        <p:nvSpPr>
          <p:cNvPr id="27" name="Oval 26"/>
          <p:cNvSpPr/>
          <p:nvPr/>
        </p:nvSpPr>
        <p:spPr>
          <a:xfrm>
            <a:off x="987552" y="4526280"/>
            <a:ext cx="109728" cy="109728"/>
          </a:xfrm>
          <a:prstGeom prst="ellipse">
            <a:avLst/>
          </a:prstGeom>
          <a:solidFill>
            <a:srgbClr val="06B6D4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07008" y="4453128"/>
            <a:ext cx="435254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FFFFFF"/>
                </a:solidFill>
                <a:latin typeface="Noto Sans"/>
              </a:rPr>
              <a:t>SESSION_CONTEXT fail-closed cho raw SQL / IgnoreQueryFilters</a:t>
            </a:r>
          </a:p>
        </p:txBody>
      </p:sp>
      <p:sp>
        <p:nvSpPr>
          <p:cNvPr id="29" name="Oval 28"/>
          <p:cNvSpPr/>
          <p:nvPr/>
        </p:nvSpPr>
        <p:spPr>
          <a:xfrm>
            <a:off x="987552" y="5020056"/>
            <a:ext cx="109728" cy="109728"/>
          </a:xfrm>
          <a:prstGeom prst="ellipse">
            <a:avLst/>
          </a:prstGeom>
          <a:solidFill>
            <a:srgbClr val="06B6D4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207008" y="4946904"/>
            <a:ext cx="435254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FFFFFF"/>
                </a:solidFill>
                <a:latin typeface="Noto Sans"/>
              </a:rPr>
              <a:t>RAG ACL theo user · role · department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44768" y="3246120"/>
            <a:ext cx="5166360" cy="2304288"/>
          </a:xfrm>
          <a:prstGeom prst="roundRect">
            <a:avLst/>
          </a:prstGeom>
          <a:solidFill>
            <a:srgbClr val="111C33"/>
          </a:solidFill>
          <a:ln w="1016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382512" y="3493008"/>
            <a:ext cx="1389888" cy="310896"/>
          </a:xfrm>
          <a:prstGeom prst="roundRect">
            <a:avLst/>
          </a:prstGeom>
          <a:solidFill>
            <a:srgbClr val="0B1220"/>
          </a:solidFill>
          <a:ln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82512" y="3502151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7C3AED"/>
                </a:solidFill>
                <a:latin typeface="Noto Sans"/>
              </a:rPr>
              <a:t>RUNTIME SAFETY</a:t>
            </a:r>
          </a:p>
        </p:txBody>
      </p:sp>
      <p:sp>
        <p:nvSpPr>
          <p:cNvPr id="34" name="Oval 33"/>
          <p:cNvSpPr/>
          <p:nvPr/>
        </p:nvSpPr>
        <p:spPr>
          <a:xfrm>
            <a:off x="6382512" y="4032504"/>
            <a:ext cx="109728" cy="109728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01968" y="3959352"/>
            <a:ext cx="435254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FFFFFF"/>
                </a:solidFill>
                <a:latin typeface="Noto Sans"/>
              </a:rPr>
              <a:t>Durable outbox: lease · retry · dead-letter</a:t>
            </a:r>
          </a:p>
        </p:txBody>
      </p:sp>
      <p:sp>
        <p:nvSpPr>
          <p:cNvPr id="36" name="Oval 35"/>
          <p:cNvSpPr/>
          <p:nvPr/>
        </p:nvSpPr>
        <p:spPr>
          <a:xfrm>
            <a:off x="6382512" y="4526280"/>
            <a:ext cx="109728" cy="109728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01968" y="4453128"/>
            <a:ext cx="435254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FFFFFF"/>
                </a:solidFill>
                <a:latin typeface="Noto Sans"/>
              </a:rPr>
              <a:t>Idempotency + source fingerprint + row-version</a:t>
            </a:r>
          </a:p>
        </p:txBody>
      </p:sp>
      <p:sp>
        <p:nvSpPr>
          <p:cNvPr id="38" name="Oval 37"/>
          <p:cNvSpPr/>
          <p:nvPr/>
        </p:nvSpPr>
        <p:spPr>
          <a:xfrm>
            <a:off x="6382512" y="5020056"/>
            <a:ext cx="109728" cy="109728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01968" y="4946904"/>
            <a:ext cx="435254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FFFFFF"/>
                </a:solidFill>
                <a:latin typeface="Noto Sans"/>
              </a:rPr>
              <a:t>Serializable recheck cho dữ liệu và quyền thay đổi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9808" y="5961888"/>
            <a:ext cx="10561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CBD5E1"/>
                </a:solidFill>
                <a:latin typeface="Noto Sans"/>
              </a:rPr>
              <a:t>Security và reliability là điều kiện vận hành, không phải lớp trang trí sau cùng.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384048"/>
            <a:ext cx="1417320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9319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F46E5"/>
                </a:solidFill>
                <a:latin typeface="Noto Sans"/>
              </a:rPr>
              <a:t>DỮ LIỆU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37392" y="3383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64748B"/>
                </a:solidFill>
                <a:latin typeface="Noto Sans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972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F172A"/>
                </a:solidFill>
                <a:latin typeface="Noto Sans"/>
              </a:rPr>
              <a:t>Mô hình quan hệ giữ liên kết từ tổ chức đến kết quả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719072"/>
            <a:ext cx="8485632" cy="44988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erd_diagram.png"/>
          <p:cNvPicPr>
            <a:picLocks noChangeAspect="1"/>
          </p:cNvPicPr>
          <p:nvPr/>
        </p:nvPicPr>
        <p:blipFill>
          <a:blip r:embed="rId2"/>
          <a:srcRect t="12259" b="12259"/>
          <a:stretch>
            <a:fillRect/>
          </a:stretch>
        </p:blipFill>
        <p:spPr>
          <a:xfrm>
            <a:off x="658368" y="1755648"/>
            <a:ext cx="8412480" cy="442569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9308592" y="1792224"/>
            <a:ext cx="2194560" cy="1060704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308592" y="1792224"/>
            <a:ext cx="64008" cy="1060704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64624" y="1975104"/>
            <a:ext cx="171907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Tổ chức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64624" y="2404872"/>
            <a:ext cx="171907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75569"/>
                </a:solidFill>
                <a:latin typeface="Noto Sans"/>
              </a:rPr>
              <a:t>SystemUser · Employee · Department · Position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08592" y="2999232"/>
            <a:ext cx="2194560" cy="1060704"/>
          </a:xfrm>
          <a:prstGeom prst="roundRect">
            <a:avLst/>
          </a:prstGeom>
          <a:solidFill>
            <a:srgbClr val="EEF2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308592" y="2999232"/>
            <a:ext cx="64008" cy="1060704"/>
          </a:xfrm>
          <a:prstGeom prst="rect">
            <a:avLst/>
          </a:prstGeom>
          <a:solidFill>
            <a:srgbClr val="4F46E5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64624" y="3182112"/>
            <a:ext cx="171907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Mục tiêu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64624" y="3611879"/>
            <a:ext cx="171907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75569"/>
                </a:solidFill>
                <a:latin typeface="Noto Sans"/>
              </a:rPr>
              <a:t>OKR · Key Result · KPI · KPI Detail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08592" y="4206240"/>
            <a:ext cx="2194560" cy="1060704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08592" y="4206240"/>
            <a:ext cx="64008" cy="1060704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64624" y="4389120"/>
            <a:ext cx="171907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Thực thi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64624" y="4818888"/>
            <a:ext cx="171907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75569"/>
                </a:solidFill>
                <a:latin typeface="Noto Sans"/>
              </a:rPr>
              <a:t>WorkProject · WorkItem · Check-in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08592" y="5440680"/>
            <a:ext cx="2194560" cy="667512"/>
          </a:xfrm>
          <a:prstGeom prst="roundRect">
            <a:avLst/>
          </a:prstGeom>
          <a:solidFill>
            <a:srgbClr val="0B1220"/>
          </a:solidFill>
          <a:ln w="10160"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08592" y="5577840"/>
            <a:ext cx="21945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Noto Sans"/>
              </a:rPr>
              <a:t>Dữ liệu liên thông
→ báo cáo nhất quán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94360" y="6510528"/>
            <a:ext cx="11000232" cy="0"/>
          </a:xfrm>
          <a:prstGeom prst="line">
            <a:avLst/>
          </a:prstGeom>
          <a:ln w="8890">
            <a:solidFill>
              <a:srgbClr val="DDE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94360" y="6565392"/>
            <a:ext cx="4572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64748B"/>
                </a:solidFill>
                <a:latin typeface="Noto Sans"/>
              </a:rPr>
              <a:t>NEXTGEN · BIZEN AI-NATIVE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384048"/>
            <a:ext cx="1417320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9319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F46E5"/>
                </a:solidFill>
                <a:latin typeface="Noto Sans"/>
              </a:rPr>
              <a:t>KIỂM CHỨNG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37392" y="3383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64748B"/>
                </a:solidFill>
                <a:latin typeface="Noto Sans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972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F172A"/>
                </a:solidFill>
                <a:latin typeface="Noto Sans"/>
              </a:rPr>
              <a:t>Build, test và SQL Server thật: bằng chứng chất lượng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53312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4748B"/>
                </a:solidFill>
                <a:latin typeface="Noto Sans"/>
              </a:rPr>
              <a:t>Snapshot local được ghi nhận ngày 11/08/2026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901952"/>
            <a:ext cx="2514600" cy="10515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48256"/>
            <a:ext cx="211226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6A34A"/>
                </a:solidFill>
                <a:latin typeface="Noto Sans"/>
              </a:rPr>
              <a:t>536/536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68880"/>
            <a:ext cx="21122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F172A"/>
                </a:solidFill>
                <a:latin typeface="Noto Sans"/>
              </a:rPr>
              <a:t>test solution chạy xanh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706624"/>
            <a:ext cx="211226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4748B"/>
                </a:solidFill>
                <a:latin typeface="Noto Sans"/>
              </a:rPr>
              <a:t>unit + integration + SQL tests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65576" y="1901952"/>
            <a:ext cx="2514600" cy="10515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66744" y="2048256"/>
            <a:ext cx="211226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4F46E5"/>
                </a:solidFill>
                <a:latin typeface="Noto Sans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66744" y="2468880"/>
            <a:ext cx="21122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F172A"/>
                </a:solidFill>
                <a:latin typeface="Noto Sans"/>
              </a:rPr>
              <a:t>warning khi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66744" y="2706624"/>
            <a:ext cx="211226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4748B"/>
                </a:solidFill>
                <a:latin typeface="Noto Sans"/>
              </a:rPr>
              <a:t>solution build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901952"/>
            <a:ext cx="2514600" cy="10515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2048256"/>
            <a:ext cx="211226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4F46E5"/>
                </a:solidFill>
                <a:latin typeface="Noto Sans"/>
              </a:rPr>
              <a:t>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468880"/>
            <a:ext cx="21122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F172A"/>
                </a:solidFill>
                <a:latin typeface="Noto Sans"/>
              </a:rPr>
              <a:t>error khi build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2706624"/>
            <a:ext cx="211226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4748B"/>
                </a:solidFill>
                <a:latin typeface="Noto Sans"/>
              </a:rPr>
              <a:t>solution build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70264" y="1901952"/>
            <a:ext cx="2514600" cy="10515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71432" y="2048256"/>
            <a:ext cx="211226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6B6D4"/>
                </a:solidFill>
                <a:latin typeface="Noto Sans"/>
              </a:rPr>
              <a:t>57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468880"/>
            <a:ext cx="21122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F172A"/>
                </a:solidFill>
                <a:latin typeface="Noto Sans"/>
              </a:rPr>
              <a:t>bảng RLS được kiểm tra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71432" y="2706624"/>
            <a:ext cx="211226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4748B"/>
                </a:solidFill>
                <a:latin typeface="Noto Sans"/>
              </a:rPr>
              <a:t>real SQL Server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3310128"/>
            <a:ext cx="5138928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13232" y="3310128"/>
            <a:ext cx="64008" cy="987552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14400" y="3493008"/>
            <a:ext cx="438912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3502152"/>
            <a:ext cx="43891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16A34A"/>
                </a:solidFill>
                <a:latin typeface="Noto Sans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40" y="3493008"/>
            <a:ext cx="41879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Migration lifecycle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9264" y="3922776"/>
            <a:ext cx="4663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75569"/>
                </a:solidFill>
                <a:latin typeface="Noto Sans"/>
              </a:rPr>
              <a:t>Database rỗng → latest → down → reapply; snapshot không drift.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99632" y="3310128"/>
            <a:ext cx="5138928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99632" y="3310128"/>
            <a:ext cx="64008" cy="987552"/>
          </a:xfrm>
          <a:prstGeom prst="rect">
            <a:avLst/>
          </a:prstGeom>
          <a:solidFill>
            <a:srgbClr val="4F46E5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400800" y="3493008"/>
            <a:ext cx="438912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3502152"/>
            <a:ext cx="43891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F46E5"/>
                </a:solidFill>
                <a:latin typeface="Noto Sans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3493008"/>
            <a:ext cx="41879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Tenant isolation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55664" y="3922776"/>
            <a:ext cx="4663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75569"/>
                </a:solidFill>
                <a:latin typeface="Noto Sans"/>
              </a:rPr>
              <a:t>Raw SQL, cross-tenant insert/update và pooled connection đều bị kiểm soát.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13232" y="4544568"/>
            <a:ext cx="5138928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13232" y="4544568"/>
            <a:ext cx="64008" cy="987552"/>
          </a:xfrm>
          <a:prstGeom prst="rect">
            <a:avLst/>
          </a:prstGeom>
          <a:solidFill>
            <a:srgbClr val="4F46E5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914400" y="4727448"/>
            <a:ext cx="438912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4736592"/>
            <a:ext cx="43891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F46E5"/>
                </a:solidFill>
                <a:latin typeface="Noto Sans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463040" y="4727448"/>
            <a:ext cx="41879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Concurrency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9264" y="5157216"/>
            <a:ext cx="4663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75569"/>
                </a:solidFill>
                <a:latin typeface="Noto Sans"/>
              </a:rPr>
              <a:t>Proposal, rubric, draft và double-confirm hội tụ theo transaction/idempotency.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99632" y="4544568"/>
            <a:ext cx="5138928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99632" y="4544568"/>
            <a:ext cx="64008" cy="987552"/>
          </a:xfrm>
          <a:prstGeom prst="rect">
            <a:avLst/>
          </a:prstGeom>
          <a:solidFill>
            <a:srgbClr val="4F46E5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400800" y="4727448"/>
            <a:ext cx="438912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0" y="4736592"/>
            <a:ext cx="43891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F46E5"/>
                </a:solidFill>
                <a:latin typeface="Noto Sans"/>
              </a:rP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49440" y="4727448"/>
            <a:ext cx="41879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AI contracts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55664" y="5157216"/>
            <a:ext cx="4663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75569"/>
                </a:solidFill>
                <a:latin typeface="Noto Sans"/>
              </a:rPr>
              <a:t>Strict schema, citation, abstain, stale-source và human-decision được regression test.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13232" y="5888736"/>
            <a:ext cx="10808208" cy="347472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ECF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96112" y="5971032"/>
            <a:ext cx="104424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30" b="1">
                <a:solidFill>
                  <a:srgbClr val="0F766E"/>
                </a:solidFill>
                <a:latin typeface="Noto Sans"/>
              </a:rPr>
              <a:t>Bằng chứng xác nhận phạm vi mã nguồn và SQL Server qua kiểm thử tự động.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594360" y="6510528"/>
            <a:ext cx="11000232" cy="0"/>
          </a:xfrm>
          <a:prstGeom prst="line">
            <a:avLst/>
          </a:prstGeom>
          <a:ln w="8890">
            <a:solidFill>
              <a:srgbClr val="DDE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594360" y="6565392"/>
            <a:ext cx="4572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64748B"/>
                </a:solidFill>
                <a:latin typeface="Noto Sans"/>
              </a:rPr>
              <a:t>NEXTGEN · BIZEN AI-NATIVE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603504"/>
            <a:ext cx="1097280" cy="310896"/>
          </a:xfrm>
          <a:prstGeom prst="roundRect">
            <a:avLst/>
          </a:prstGeom>
          <a:solidFill>
            <a:srgbClr val="111C33"/>
          </a:solidFill>
          <a:ln>
            <a:solidFill>
              <a:srgbClr val="111C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12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6B6D4"/>
                </a:solidFill>
                <a:latin typeface="Noto Sans"/>
              </a:rPr>
              <a:t>KẾT LUẬN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115568"/>
            <a:ext cx="7589520" cy="1170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FFFFFF"/>
                </a:solidFill>
                <a:latin typeface="Noto Sans"/>
              </a:rPr>
              <a:t>Một nền tảng quản trị hiệu suất
có thể giải thích và kiểm soát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971800"/>
            <a:ext cx="3364992" cy="1572768"/>
          </a:xfrm>
          <a:prstGeom prst="roundRect">
            <a:avLst/>
          </a:prstGeom>
          <a:solidFill>
            <a:srgbClr val="111C33"/>
          </a:solidFill>
          <a:ln w="1016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50976" y="3191256"/>
            <a:ext cx="438912" cy="310896"/>
          </a:xfrm>
          <a:prstGeom prst="roundRect">
            <a:avLst/>
          </a:prstGeom>
          <a:solidFill>
            <a:srgbClr val="0B1220"/>
          </a:solidFill>
          <a:ln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3200400"/>
            <a:ext cx="43891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4F46E5"/>
                </a:solidFill>
                <a:latin typeface="Noto San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7904" y="3154680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Noto Sans"/>
              </a:rPr>
              <a:t>Liên thông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3703320"/>
            <a:ext cx="290779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20" b="0">
                <a:solidFill>
                  <a:srgbClr val="CBD5E1"/>
                </a:solidFill>
                <a:latin typeface="Noto Sans"/>
              </a:rPr>
              <a:t>Chiến lược → OKR/KR → KPI → task/check-in → đánh giá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59" y="2971800"/>
            <a:ext cx="3364992" cy="1572768"/>
          </a:xfrm>
          <a:prstGeom prst="roundRect">
            <a:avLst/>
          </a:prstGeom>
          <a:solidFill>
            <a:srgbClr val="111C33"/>
          </a:solidFill>
          <a:ln w="1016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700016" y="3191256"/>
            <a:ext cx="438912" cy="310896"/>
          </a:xfrm>
          <a:prstGeom prst="roundRect">
            <a:avLst/>
          </a:prstGeom>
          <a:solidFill>
            <a:srgbClr val="0B1220"/>
          </a:solidFill>
          <a:ln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00016" y="3200400"/>
            <a:ext cx="43891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06B6D4"/>
                </a:solidFill>
                <a:latin typeface="Noto San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66944" y="3154680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Noto Sans"/>
              </a:rPr>
              <a:t>Có bằng chứng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0016" y="3703320"/>
            <a:ext cx="290779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20" b="0">
                <a:solidFill>
                  <a:srgbClr val="CBD5E1"/>
                </a:solidFill>
                <a:latin typeface="Noto Sans"/>
              </a:rPr>
              <a:t>Advisor dùng nguồn được phép, citation và source fingerprint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2971800"/>
            <a:ext cx="3364992" cy="1572768"/>
          </a:xfrm>
          <a:prstGeom prst="roundRect">
            <a:avLst/>
          </a:prstGeom>
          <a:solidFill>
            <a:srgbClr val="111C33"/>
          </a:solidFill>
          <a:ln w="1016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49056" y="3191256"/>
            <a:ext cx="438912" cy="310896"/>
          </a:xfrm>
          <a:prstGeom prst="roundRect">
            <a:avLst/>
          </a:prstGeom>
          <a:solidFill>
            <a:srgbClr val="0B1220"/>
          </a:solidFill>
          <a:ln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49056" y="3200400"/>
            <a:ext cx="43891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6A34A"/>
                </a:solidFill>
                <a:latin typeface="Noto San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15984" y="3154680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Noto Sans"/>
              </a:rPr>
              <a:t>Con người quyết định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49056" y="3703320"/>
            <a:ext cx="290779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20" b="0">
                <a:solidFill>
                  <a:srgbClr val="CBD5E1"/>
                </a:solidFill>
                <a:latin typeface="Noto Sans"/>
              </a:rPr>
              <a:t>AI chỉ tạo draft; workflow chuẩn giữ quyền phê duyệt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5230368"/>
            <a:ext cx="658368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Noto Sans"/>
              </a:rPr>
              <a:t>XIN CẢM ƠN HỘI ĐỒNG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705856"/>
            <a:ext cx="6949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Noto Sans"/>
              </a:rPr>
              <a:t>Nhóm NEXTGEN sẵn sàng trình bày demo và trả lời phản biện.</a:t>
            </a:r>
          </a:p>
        </p:txBody>
      </p:sp>
      <p:pic>
        <p:nvPicPr>
          <p:cNvPr id="22" name="Picture 21" descr="logo.jpg"/>
          <p:cNvPicPr>
            <a:picLocks noChangeAspect="1"/>
          </p:cNvPicPr>
          <p:nvPr/>
        </p:nvPicPr>
        <p:blipFill>
          <a:blip r:embed="rId2"/>
          <a:srcRect l="259" r="259"/>
          <a:stretch>
            <a:fillRect/>
          </a:stretch>
        </p:blipFill>
        <p:spPr>
          <a:xfrm>
            <a:off x="8613648" y="4800600"/>
            <a:ext cx="2468880" cy="135331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