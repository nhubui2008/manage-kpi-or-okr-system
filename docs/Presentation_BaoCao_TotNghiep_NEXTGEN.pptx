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080000">
            <a:off x="8138160" y="-548640"/>
            <a:ext cx="4754880" cy="4754880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9509760" y="4206240"/>
            <a:ext cx="3200400" cy="3200400"/>
          </a:xfrm>
          <a:prstGeom prst="roundRect">
            <a:avLst/>
          </a:prstGeom>
          <a:solidFill>
            <a:srgbClr val="06B6D4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6B6D4"/>
                </a:solidFill>
                <a:latin typeface="Noto Sans"/>
              </a:rPr>
              <a:t>BÁO CÁO DỰ ÁN TỐT NGHIỆP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7132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F"/>
                </a:solidFill>
                <a:latin typeface="Noto Sans"/>
              </a:rPr>
              <a:t>HỆ THỐNG HỖ TRỢ
VẬN HÀNH THÔNG MINH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852928"/>
            <a:ext cx="6583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BD5E1"/>
                </a:solidFill>
                <a:latin typeface="Noto Sans"/>
              </a:rPr>
              <a:t>Quản lý đa cấp · KPI/OKR liên thông · Hỗ trợ quyết định bằng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749039"/>
            <a:ext cx="5943600" cy="1097280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Noto Sans"/>
              </a:rPr>
              <a:t>NHÓM NEXTGEN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7083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BD5E1"/>
                </a:solidFill>
                <a:latin typeface="Noto Sans"/>
              </a:rPr>
              <a:t>GVHD: Phan Hoàng Khải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22191" y="3941063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3950207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ASP.NET CORE MVC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3941063"/>
            <a:ext cx="106070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3950207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4A3B8"/>
                </a:solidFill>
                <a:latin typeface="Noto Sans"/>
              </a:rPr>
              <a:t>Hà Nội · 2026</a:t>
            </a:r>
          </a:p>
        </p:txBody>
      </p:sp>
      <p:pic>
        <p:nvPicPr>
          <p:cNvPr id="15" name="Picture 14" descr="logo.jpg"/>
          <p:cNvPicPr>
            <a:picLocks noChangeAspect="1"/>
          </p:cNvPicPr>
          <p:nvPr/>
        </p:nvPicPr>
        <p:blipFill>
          <a:blip r:embed="rId2"/>
          <a:srcRect l="10003" r="10003"/>
          <a:stretch>
            <a:fillRect/>
          </a:stretch>
        </p:blipFill>
        <p:spPr>
          <a:xfrm>
            <a:off x="8247888" y="1078992"/>
            <a:ext cx="3246120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ĐỘI NGŨ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Nhóm NEXTGEN — 7 thành viên, một sản phẩm liên thông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u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804671" y="2084832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27632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Anh Quân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LEADER ·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.jpg"/>
          <p:cNvPicPr>
            <a:picLocks noChangeAspect="1"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3657600" y="2084832"/>
            <a:ext cx="713232" cy="713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TB01817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BACKEND KPI/OKR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hu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510528" y="2084832"/>
            <a:ext cx="713232" cy="713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33488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Bùi Nguyễn Anh Như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KPI/OKR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3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5" y="2084832"/>
            <a:ext cx="713232" cy="713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86415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Trần Thanh Phong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6415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TB01649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5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NỀN TẢNG · HỆ THỐNG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66543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a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136" y="434340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54096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Nguyễn Thế Bảo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TB01573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31136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31136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VẬN HÀNH · KANBAN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19472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khan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4064" y="4343400"/>
            <a:ext cx="713232" cy="713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907024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Đoàn Quốc Khánh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TB01544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84064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4064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QA · KIỂM THỬ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nh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6992" y="4343400"/>
            <a:ext cx="713232" cy="713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59952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Vũ Hoàng Huy Nhật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36992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36992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VẬN HÀNH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TỔ CHỨC THEO PHÂN HỆ, TÍCH HỢP TRÊN CÙNG KIẾN TRÚC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SME cần dữ liệu xuyên suốt từ chiến lược đến thực thi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Quy trình rời rạc khiến quản lý phản ứng chậm và khó kiểm chứng quyết định.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48256"/>
            <a:ext cx="5230368" cy="1481328"/>
          </a:xfrm>
          <a:prstGeom prst="roundRect">
            <a:avLst/>
          </a:prstGeom>
          <a:solidFill>
            <a:srgbClr val="FFF1F2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48256"/>
            <a:ext cx="64008" cy="148132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E11D48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Dữ liệu phân tán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KPI/OKR nằm ở nhiều bảng tính và phòng ban; tổng hợp chậm, dễ lệch số.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48256"/>
            <a:ext cx="5230368" cy="14813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64008" cy="14813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052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59E0B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 cảm tính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Thiếu baseline đo lường và workflow duyệt rõ trách nhiệm giữa các cấp.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77056"/>
            <a:ext cx="5230368" cy="148132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877056"/>
            <a:ext cx="64008" cy="148132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7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 đứt gãy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Mục tiêu công ty không liên kết rõ tới KR, KPI và đầu việc hằng ngày.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77056"/>
            <a:ext cx="5230368" cy="148132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877056"/>
            <a:ext cx="64008" cy="148132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1052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Can thiệp quá muộn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Không có luồng check-in, cảnh báo và bằng chứng kịp thời để hỗ trợ quyết định.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760720"/>
            <a:ext cx="10863072" cy="512064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879592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Mấu chốt: một nguồn dữ liệu thống nhất, quyền truy cập đúng phạm vi và AI chỉ đóng vai trò cố vấn.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Bizen kết nối quản trị mục tiêu thành một vòng vận hành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2103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3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Sứ mệnh · Mục tiêu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18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18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OKR / 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Phân rã đa cấp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9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04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Target · Trọng số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25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90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0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0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Task · Check-in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1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6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6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Duyệt · Xếp hạng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986784"/>
            <a:ext cx="3401568" cy="1325880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3986784"/>
            <a:ext cx="64008" cy="132588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Một dữ liệu — nhiều góc nhìn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Dashboard theo kỳ, phạm vi vai trò và tiến độ thực tế; giảm tổng hợp thủ công.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0" y="3986784"/>
            <a:ext cx="3401568" cy="132588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89120" y="3986784"/>
            <a:ext cx="64008" cy="132588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Workflow có trách nhiệm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515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Nhân viên báo cáo, quản lý duyệt, hệ thống tính toán; mọi bước có trạng thái rõ ràng.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3986784"/>
            <a:ext cx="3401568" cy="132588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92440" y="3986784"/>
            <a:ext cx="64008" cy="13258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8471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gắn vào quyết định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1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Cố vấn dùng nguồn được phép; con người sửa và xác nhận qua form nghiệp vụ chuẩn.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Một hệ thống, năm vai trò và phạm vi dữ liệu rõ ràng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Cấu hình tổ chức &amp; quyền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Director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Chiến lược &amp; phê duyệt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76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Giao KPI &amp;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Employee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Thực thi &amp; check-in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48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Kỳ đánh giá &amp; kết quả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83280"/>
            <a:ext cx="10241280" cy="0"/>
          </a:xfrm>
          <a:prstGeom prst="line">
            <a:avLst/>
          </a:prstGeom>
          <a:ln w="38100">
            <a:solidFill>
              <a:srgbClr val="C7D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5156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Thiết lập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Mục tiêu / kỳ</a:t>
            </a:r>
          </a:p>
        </p:txBody>
      </p:sp>
      <p:sp>
        <p:nvSpPr>
          <p:cNvPr id="26" name="Oval 25"/>
          <p:cNvSpPr/>
          <p:nvPr/>
        </p:nvSpPr>
        <p:spPr>
          <a:xfrm>
            <a:off x="306324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324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Giao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OKR / KPI / task</a:t>
            </a:r>
          </a:p>
        </p:txBody>
      </p:sp>
      <p:sp>
        <p:nvSpPr>
          <p:cNvPr id="30" name="Oval 29"/>
          <p:cNvSpPr/>
          <p:nvPr/>
        </p:nvSpPr>
        <p:spPr>
          <a:xfrm>
            <a:off x="507492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573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Kanban / check-in</a:t>
            </a:r>
          </a:p>
        </p:txBody>
      </p:sp>
      <p:sp>
        <p:nvSpPr>
          <p:cNvPr id="34" name="Oval 33"/>
          <p:cNvSpPr/>
          <p:nvPr/>
        </p:nvSpPr>
        <p:spPr>
          <a:xfrm>
            <a:off x="708660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660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Kiểm soát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741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Review / phê duyệt</a:t>
            </a:r>
          </a:p>
        </p:txBody>
      </p:sp>
      <p:sp>
        <p:nvSpPr>
          <p:cNvPr id="38" name="Oval 37"/>
          <p:cNvSpPr/>
          <p:nvPr/>
        </p:nvSpPr>
        <p:spPr>
          <a:xfrm>
            <a:off x="909828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Ra quyết định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909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Dashboard / đánh giá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4983480"/>
            <a:ext cx="10808208" cy="80467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230368"/>
            <a:ext cx="10287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"/>
              </a:rPr>
              <a:t>RBAC + phạm vi tenant/phòng ban/nhân viên đi cùng mọi thao tác đọc và ghi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KIẾN TRÚC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Nền tảng web phân tầng, bảo mật dữ liệu theo 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ASP.NET Core MVC · EF Core · SQL Server · AI model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0351008" cy="713232"/>
          </a:xfrm>
          <a:prstGeom prst="roundRect">
            <a:avLst/>
          </a:prstGeom>
          <a:solidFill>
            <a:srgbClr val="18243D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037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TRẢI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219456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Razor + Bootstrap · Dashboard · OKR/KPI · Kanban · Check-in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71800"/>
            <a:ext cx="10351008" cy="713232"/>
          </a:xfrm>
          <a:prstGeom prst="roundRect">
            <a:avLst/>
          </a:prstGeom>
          <a:solidFill>
            <a:srgbClr val="17233B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3000" y="315468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NGHIỆP VỤ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315468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Controllers · Services · Validators · Authorization filters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31920"/>
            <a:ext cx="10351008" cy="713232"/>
          </a:xfrm>
          <a:prstGeom prst="roundRect">
            <a:avLst/>
          </a:prstGeom>
          <a:solidFill>
            <a:srgbClr val="152239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11480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1239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766E"/>
                </a:solidFill>
                <a:latin typeface="Noto Sans"/>
              </a:rPr>
              <a:t>DỮ LIỆU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24912" y="411480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EF Core · Transactions · RowVersion · SQL Server RLS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0351008" cy="713232"/>
          </a:xfrm>
          <a:prstGeom prst="roundRect">
            <a:avLst/>
          </a:prstGeom>
          <a:solidFill>
            <a:srgbClr val="132137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507492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08406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AI-NATIVE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912" y="507492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Advisor contracts · AgentRun · Outbox · Citation metadata · RAG ACL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61888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Mọi write chính thức đều đi qua validator + quyền + transaction của nghiệp vụ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Dashboard hợp nhất tiến độ, con người và hành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00784"/>
            <a:ext cx="10954512" cy="4306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2"/>
          <a:srcRect t="10475" b="10475"/>
          <a:stretch>
            <a:fillRect/>
          </a:stretch>
        </p:blipFill>
        <p:spPr>
          <a:xfrm>
            <a:off x="658368" y="1737360"/>
            <a:ext cx="108813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2688" y="1975104"/>
            <a:ext cx="84124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8424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THEO KỲ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975104"/>
            <a:ext cx="96926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98424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73184" y="1975104"/>
            <a:ext cx="128016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73184" y="1984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AI ADVISORY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GIAO DIỆN THỰC TẾ · DASHBOARD THEO PHẠM VI NGƯỜI DÙNG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Từ Objective đến KPI có target, trọng số và người chịu trách nhiệm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okrs.png"/>
          <p:cNvPicPr>
            <a:picLocks noChangeAspect="1"/>
          </p:cNvPicPr>
          <p:nvPr/>
        </p:nvPicPr>
        <p:blipFill>
          <a:blip r:embed="rId2"/>
          <a:srcRect t="64" b="64"/>
          <a:stretch>
            <a:fillRect/>
          </a:stretch>
        </p:blipFill>
        <p:spPr>
          <a:xfrm>
            <a:off x="621792" y="1755648"/>
            <a:ext cx="5413248" cy="26609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_kpis.png"/>
          <p:cNvPicPr>
            <a:picLocks noChangeAspect="1"/>
          </p:cNvPicPr>
          <p:nvPr/>
        </p:nvPicPr>
        <p:blipFill>
          <a:blip r:embed="rId3"/>
          <a:srcRect t="64" b="64"/>
          <a:stretch>
            <a:fillRect/>
          </a:stretch>
        </p:blipFill>
        <p:spPr>
          <a:xfrm>
            <a:off x="6163056" y="1755648"/>
            <a:ext cx="5413248" cy="26609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KEY 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KPI / ASSIGNMENT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Key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2944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Assignee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5792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Check-in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779008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475569"/>
                </a:solidFill>
                <a:latin typeface="Noto Sans"/>
              </a:rPr>
              <a:t>Liên kết được lưu trong mô hình dữ liệu và kiểm tra lại ở server — không phụ thuộc dữ liệu browser.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THỰC 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Check-in có lịch sử, công thức server và cổng phê duyệt của con người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3" y="1755648"/>
            <a:ext cx="713232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checkin.png"/>
          <p:cNvPicPr>
            <a:picLocks noChangeAspect="1"/>
          </p:cNvPicPr>
          <p:nvPr/>
        </p:nvPicPr>
        <p:blipFill>
          <a:blip r:embed="rId2"/>
          <a:srcRect l="8699" r="8699"/>
          <a:stretch>
            <a:fillRect/>
          </a:stretch>
        </p:blipFill>
        <p:spPr>
          <a:xfrm>
            <a:off x="640080" y="1792224"/>
            <a:ext cx="7059168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856231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56231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74736" y="2039112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2048255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3376" y="2039112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Nhân viên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79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Giá trị đạt được + rào cản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2834639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2834639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74736" y="3017520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3026663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3017520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Server tính tiến độ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47287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Target, trọng số, KPI thuận/nghịch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3813048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3568" y="3813048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74736" y="399592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400507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376" y="3995928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Quản lý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425696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Điểm, nhận xét, approve/reject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4791456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8" y="4791456"/>
            <a:ext cx="64008" cy="8321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4736" y="49743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9834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4974336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Snapshot chính thức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404104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Chỉ Approved mới làm baseline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5687568"/>
            <a:ext cx="3529584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73568" y="5806440"/>
            <a:ext cx="3529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6A34A"/>
                </a:solidFill>
                <a:latin typeface="Noto Sans"/>
              </a:rPr>
              <a:t>Human approval là cổng cuối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AI đề xuất, con người quyết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Nguyên tắc xuyên suốt mọi advisor và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10512"/>
            <a:ext cx="6062472" cy="3483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i.png"/>
          <p:cNvPicPr>
            <a:picLocks noChangeAspect="1"/>
          </p:cNvPicPr>
          <p:nvPr/>
        </p:nvPicPr>
        <p:blipFill>
          <a:blip r:embed="rId2"/>
          <a:srcRect l="6785" r="6785"/>
          <a:stretch>
            <a:fillRect/>
          </a:stretch>
        </p:blipFill>
        <p:spPr>
          <a:xfrm>
            <a:off x="658368" y="1847088"/>
            <a:ext cx="5989320" cy="34107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22592" y="1874519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0" y="2093976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103120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7C3AED"/>
                </a:solidFill>
                <a:latin typeface="Noto San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4736" y="1993391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Sinh draft có cấu trúc
và source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2898648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3118104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127248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06B6D4"/>
                </a:solidFill>
                <a:latin typeface="Noto Sans"/>
              </a:rPr>
              <a:t>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017520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Kiểm schema · quyền
nguồn · fingerprint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22592" y="3922776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23760" y="4142232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151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6A34A"/>
                </a:solidFill>
                <a:latin typeface="Noto Sans"/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4041648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Xem · sửa · chấp nhận
hoặc từ chối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4946904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5166360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5175504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4F46E5"/>
                </a:solidFill>
                <a:latin typeface="Noto Sans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5065776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Form chuẩn mới ghi
dữ liệu chính thức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60720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Không AI nào tự duyệt KPI/OKR, tự sửa điểm, xếp hạng hay thưởng.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PHẠM VI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Chín luồng cố vấn đã hội tụ về cùng một kiến trúc kiểm soát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0392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Goal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Ba task plan có nguồn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81144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Check-in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4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Định lượng + rubric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Đánh giá candidate KR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Review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Nháp nhận xét 1-on-1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81144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1144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Customer Segment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Phân khúc tham khảo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47304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11896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59E0B"/>
                </a:solidFill>
                <a:latin typeface="Noto San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0536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Insight từ check-in duyệt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9032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KPI Suggestion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99032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3–5 KPI draft hợp lệ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16552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81144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81144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784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Chat Advisor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784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Hỏi đáp có citation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47304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311896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Suggestion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Gợi ý/refine KR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5797296"/>
            <a:ext cx="10863072" cy="38404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589788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1">
                <a:solidFill>
                  <a:srgbClr val="4F46E5"/>
                </a:solidFill>
                <a:latin typeface="Noto Sans"/>
              </a:rPr>
              <a:t>Mẫu chung: authorized snapshot → strict JSON → validate → recheck source → human action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Advisor chỉ dùng nguồn được cấp quyền và có thể truy vết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50992" y="1719072"/>
            <a:ext cx="5943600" cy="4343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quence_ai.png"/>
          <p:cNvPicPr>
            <a:picLocks noChangeAspect="1"/>
          </p:cNvPicPr>
          <p:nvPr/>
        </p:nvPicPr>
        <p:blipFill>
          <a:blip r:embed="rId2"/>
          <a:srcRect l="10" r="10"/>
          <a:stretch>
            <a:fillRect/>
          </a:stretch>
        </p:blipFill>
        <p:spPr>
          <a:xfrm>
            <a:off x="5687568" y="1755648"/>
            <a:ext cx="5870448" cy="4270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1856231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8288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Authorized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21408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Server dựng scope kỳ, OKR/KPI và tenant.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514600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660903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334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Strict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926079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Model chỉ trả JSON + source IDs được cấp.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319272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465575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43814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Citation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0752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Lưu ID/hash để audit, không lưu prompt thô.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123944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4270248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24281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Stale-safe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4535424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Dựng lại snapshot trong transaction trước commit.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4928616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07492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04748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Abstain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40096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Thiếu bằng chứng thì trả rỗng, không đoán.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5733288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RAG PIPELINE: PRIVATE BLOB → MINERU → BGE-M3 → AZURE AI SEARCH → ACL FILTER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ĐỘ TIN CẬY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Bảo vệ dữ liệu và xử lý bền vững ngay trong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có SQL Server RLS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filter + block predicate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Noto Sans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scope do server xác định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không nhận TenantId từ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50992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59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human gate trước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59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form nghiệp vụ chuẩn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1828800"/>
            <a:ext cx="27889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975104"/>
            <a:ext cx="2386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9E0B"/>
                </a:solidFill>
                <a:latin typeface="Noto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395728"/>
            <a:ext cx="2386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prompt/raw response lưu mới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633472"/>
            <a:ext cx="23865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chỉ metadata kiểm toán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TENANT DEFENSE</a:t>
            </a:r>
          </a:p>
        </p:txBody>
      </p:sp>
      <p:sp>
        <p:nvSpPr>
          <p:cNvPr id="25" name="Oval 24"/>
          <p:cNvSpPr/>
          <p:nvPr/>
        </p:nvSpPr>
        <p:spPr>
          <a:xfrm>
            <a:off x="987552" y="4032504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Tenant query filters + composite tenant foreign keys</a:t>
            </a:r>
          </a:p>
        </p:txBody>
      </p:sp>
      <p:sp>
        <p:nvSpPr>
          <p:cNvPr id="27" name="Oval 26"/>
          <p:cNvSpPr/>
          <p:nvPr/>
        </p:nvSpPr>
        <p:spPr>
          <a:xfrm>
            <a:off x="987552" y="4526280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SESSION_CONTEXT fail-closed cho raw SQL / IgnoreQueryFilters</a:t>
            </a:r>
          </a:p>
        </p:txBody>
      </p:sp>
      <p:sp>
        <p:nvSpPr>
          <p:cNvPr id="29" name="Oval 28"/>
          <p:cNvSpPr/>
          <p:nvPr/>
        </p:nvSpPr>
        <p:spPr>
          <a:xfrm>
            <a:off x="987552" y="5020056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700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RAG ACL theo user · role · department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8251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RUNTIME SAFETY</a:t>
            </a:r>
          </a:p>
        </p:txBody>
      </p:sp>
      <p:sp>
        <p:nvSpPr>
          <p:cNvPr id="34" name="Oval 33"/>
          <p:cNvSpPr/>
          <p:nvPr/>
        </p:nvSpPr>
        <p:spPr>
          <a:xfrm>
            <a:off x="6382512" y="4032504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Durable outbox: lease · retry · dead-letter</a:t>
            </a:r>
          </a:p>
        </p:txBody>
      </p:sp>
      <p:sp>
        <p:nvSpPr>
          <p:cNvPr id="36" name="Oval 35"/>
          <p:cNvSpPr/>
          <p:nvPr/>
        </p:nvSpPr>
        <p:spPr>
          <a:xfrm>
            <a:off x="6382512" y="4526280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Idempotency + source fingerprint + row-version</a:t>
            </a:r>
          </a:p>
        </p:txBody>
      </p:sp>
      <p:sp>
        <p:nvSpPr>
          <p:cNvPr id="38" name="Oval 37"/>
          <p:cNvSpPr/>
          <p:nvPr/>
        </p:nvSpPr>
        <p:spPr>
          <a:xfrm>
            <a:off x="6382512" y="5020056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Serializable recheck cho dữ liệu và quyền thay đổi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961888"/>
            <a:ext cx="10561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BD5E1"/>
                </a:solidFill>
                <a:latin typeface="Noto Sans"/>
              </a:rPr>
              <a:t>Security và reliability là điều kiện vận hành, không phải lớp trang trí sau cùng.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Mô hình quan hệ giữ liên kết từ tổ chức đến kết quả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19072"/>
            <a:ext cx="8485632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rcRect t="12259" b="12259"/>
          <a:stretch>
            <a:fillRect/>
          </a:stretch>
        </p:blipFill>
        <p:spPr>
          <a:xfrm>
            <a:off x="658368" y="1755648"/>
            <a:ext cx="8412480" cy="44256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08592" y="1792224"/>
            <a:ext cx="2194560" cy="10607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08592" y="1792224"/>
            <a:ext cx="64008" cy="10607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64624" y="19751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Tổ chức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64624" y="240487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SystemUser · Employee · Department ·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08592" y="2999232"/>
            <a:ext cx="2194560" cy="10607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8592" y="2999232"/>
            <a:ext cx="64008" cy="10607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64624" y="318211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Mục tiêu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4624" y="3611879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OKR · Key Result · KPI · KPI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4206240"/>
            <a:ext cx="2194560" cy="1060704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08592" y="4206240"/>
            <a:ext cx="64008" cy="10607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64624" y="4389120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4818888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WorkProject · WorkItem · Check-in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8592" y="5440680"/>
            <a:ext cx="2194560" cy="66751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557784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"/>
              </a:rPr>
              <a:t>Dữ liệu liên thông
→ báo cáo nhất quán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KIỂM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Build, test và SQL Server thật: bằng chứng chất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Snapshot local được ghi nhận ngày 11/08/2026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539/539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test solution chạy xanh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unit + integration + SQL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warning khi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error khi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RLS được kiểm 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real SQL Server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10128"/>
            <a:ext cx="64008" cy="9875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Migration 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Database rỗng → latest → down → reapply; snapshot không drift.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331012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Tenant isolation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Raw SQL, cross-tenant insert/update và pooled connection đều bị kiểm soát.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Concurrency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Proposal, rubric, draft và double-confirm hội tụ theo transaction/idempotency.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contracts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56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Strict schema, citation, abstain, stale-source và human-decision được regression test.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232" y="5888736"/>
            <a:ext cx="10808208" cy="34747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6112" y="5971032"/>
            <a:ext cx="10442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1">
                <a:solidFill>
                  <a:srgbClr val="0F766E"/>
                </a:solidFill>
                <a:latin typeface="Noto Sans"/>
              </a:rPr>
              <a:t>Bằng chứng xác nhận phạm vi mã nguồn và SQL Server qua kiểm thử tự động.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03504"/>
            <a:ext cx="109728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12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1556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F"/>
                </a:solidFill>
                <a:latin typeface="Noto Sans"/>
              </a:rPr>
              <a:t>Một nền tảng quản trị hiệu suất
có thể giải thích và kiểm soát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097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Liên thông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Chiến lược → OKR/KR → KPI → task/check-in → đánh giá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001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Có bằng chứng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Advisor dùng nguồn được phép, citation và source fingerprint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4905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6A34A"/>
                </a:solidFill>
                <a:latin typeface="Noto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Con người quyết định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AI chỉ tạo draft; workflow chuẩn giữ quyền phê duyệt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230368"/>
            <a:ext cx="6583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Noto Sans"/>
              </a:rPr>
              <a:t>XIN CẢM ƠN HỘI ĐỒNG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05856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"/>
              </a:rPr>
              <a:t>Nhóm NEXTGEN sẵn sàng trình bày demo và trả lời phản biện.</a:t>
            </a:r>
          </a:p>
        </p:txBody>
      </p:sp>
      <p:pic>
        <p:nvPicPr>
          <p:cNvPr id="22" name="Picture 21" descr="logo.jpg"/>
          <p:cNvPicPr>
            <a:picLocks noChangeAspect="1"/>
          </p:cNvPicPr>
          <p:nvPr/>
        </p:nvPicPr>
        <p:blipFill>
          <a:blip r:embed="rId2"/>
          <a:srcRect l="259" r="259"/>
          <a:stretch>
            <a:fillRect/>
          </a:stretch>
        </p:blipFill>
        <p:spPr>
          <a:xfrm>
            <a:off x="8613648" y="4800600"/>
            <a:ext cx="2468880" cy="1353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