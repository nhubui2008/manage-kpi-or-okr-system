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1080000">
            <a:off x="8138160" y="-548640"/>
            <a:ext cx="4754880" cy="4754880"/>
          </a:xfrm>
          <a:prstGeom prst="roundRect">
            <a:avLst/>
          </a:prstGeom>
          <a:solidFill>
            <a:srgbClr val="7C3AED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080000">
            <a:off x="9509760" y="4206240"/>
            <a:ext cx="3200400" cy="3200400"/>
          </a:xfrm>
          <a:prstGeom prst="roundRect">
            <a:avLst/>
          </a:prstGeom>
          <a:solidFill>
            <a:srgbClr val="06B6D4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5303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6B6D4"/>
                </a:solidFill>
                <a:latin typeface="Noto Sans"/>
              </a:rPr>
              <a:t>BÁO CÁO DỰ ÁN TỐT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188720"/>
            <a:ext cx="71323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FFFFF"/>
                </a:solidFill>
                <a:latin typeface="Noto Sans"/>
              </a:rPr>
              <a:t>HỆ THỐNG HỖ TRỢ
VẬN HÀNH THÔNG MINH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852928"/>
            <a:ext cx="6583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BD5E1"/>
                </a:solidFill>
                <a:latin typeface="Noto Sans"/>
              </a:rPr>
              <a:t>Quản lý đa cấp · KPI/OKR liên thông · Hỗ trợ quyết định bằng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749039"/>
            <a:ext cx="5943600" cy="1097280"/>
          </a:xfrm>
          <a:prstGeom prst="roundRect">
            <a:avLst/>
          </a:prstGeom>
          <a:solidFill>
            <a:srgbClr val="111C33"/>
          </a:solidFill>
          <a:ln w="1016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968496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Noto Sans"/>
              </a:rPr>
              <a:t>NHÓM NEXTGEN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70832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BD5E1"/>
                </a:solidFill>
                <a:latin typeface="Noto Sans"/>
              </a:rPr>
              <a:t>GVHD: Phan Hoàng Khải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2191" y="3941063"/>
            <a:ext cx="1417320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1" y="3950207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6B6D4"/>
                </a:solidFill>
                <a:latin typeface="Noto Sans"/>
              </a:rPr>
              <a:t>ASP.NET CORE MVC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1808" y="3941063"/>
            <a:ext cx="1060704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8" y="3950207"/>
            <a:ext cx="10607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6B6D4"/>
                </a:solidFill>
                <a:latin typeface="Noto Sans"/>
              </a:rPr>
              <a:t>AI-NATIVE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4A3B8"/>
                </a:solidFill>
                <a:latin typeface="Noto Sans"/>
              </a:rPr>
              <a:t>Hà Nội · 2026</a:t>
            </a:r>
          </a:p>
        </p:txBody>
      </p:sp>
      <p:pic>
        <p:nvPicPr>
          <p:cNvPr id="15" name="Picture 14" descr="logo.jpg"/>
          <p:cNvPicPr>
            <a:picLocks noChangeAspect="1"/>
          </p:cNvPicPr>
          <p:nvPr/>
        </p:nvPicPr>
        <p:blipFill>
          <a:blip r:embed="rId2"/>
          <a:srcRect l="10003" r="10003"/>
          <a:stretch>
            <a:fillRect/>
          </a:stretch>
        </p:blipFill>
        <p:spPr>
          <a:xfrm>
            <a:off x="8247888" y="1078992"/>
            <a:ext cx="3246120" cy="2212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ĐỘI NGŨ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Noto Sa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Noto Sans"/>
              </a:rPr>
              <a:t>Nhóm NEXTGEN — 7 thành viên, một sản phẩm liên thông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01952"/>
            <a:ext cx="2514600" cy="1810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uan.jpg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804671" y="2084832"/>
            <a:ext cx="713232" cy="713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27632" y="2066544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172A"/>
                </a:solidFill>
                <a:latin typeface="Noto Sans"/>
              </a:rPr>
              <a:t>Phạm Trần Anh Quân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5420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Noto Sans"/>
              </a:rPr>
              <a:t>TB01758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" y="3026664"/>
            <a:ext cx="217627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3035808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F46E5"/>
                </a:solidFill>
                <a:latin typeface="Noto Sans"/>
              </a:rPr>
              <a:t>LEADER ·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901952"/>
            <a:ext cx="2514600" cy="1810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n.jpg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3657600" y="2084832"/>
            <a:ext cx="713232" cy="713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80560" y="2066544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172A"/>
                </a:solidFill>
                <a:latin typeface="Noto Sans"/>
              </a:rPr>
              <a:t>Phạm Trần An 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420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Noto Sans"/>
              </a:rPr>
              <a:t>TB01817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026664"/>
            <a:ext cx="217627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3035808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F46E5"/>
                </a:solidFill>
                <a:latin typeface="Noto Sans"/>
              </a:rPr>
              <a:t>BACKEND KPI/OKR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1901952"/>
            <a:ext cx="2514600" cy="1810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nhu.jpg"/>
          <p:cNvPicPr>
            <a:picLocks noChangeAspect="1"/>
          </p:cNvPicPr>
          <p:nvPr/>
        </p:nvPicPr>
        <p:blipFill>
          <a:blip r:embed="rId4"/>
          <a:srcRect t="12500" b="12500"/>
          <a:stretch>
            <a:fillRect/>
          </a:stretch>
        </p:blipFill>
        <p:spPr>
          <a:xfrm>
            <a:off x="6510528" y="2084832"/>
            <a:ext cx="713232" cy="7132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33488" y="2066544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172A"/>
                </a:solidFill>
                <a:latin typeface="Noto Sans"/>
              </a:rPr>
              <a:t>Bùi Nguyễn Anh Như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5420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Noto Sans"/>
              </a:rPr>
              <a:t>TB01785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3026664"/>
            <a:ext cx="217627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035808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F46E5"/>
                </a:solidFill>
                <a:latin typeface="Noto Sans"/>
              </a:rPr>
              <a:t>FRONTEND KPI/OKR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3" y="1901952"/>
            <a:ext cx="2514600" cy="1810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pho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5" y="2084832"/>
            <a:ext cx="713232" cy="71323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186415" y="2066544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172A"/>
                </a:solidFill>
                <a:latin typeface="Noto Sans"/>
              </a:rPr>
              <a:t>Trần Thanh Phong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5" y="254203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Noto Sans"/>
              </a:rPr>
              <a:t>TB01649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63455" y="3026664"/>
            <a:ext cx="217627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63455" y="3035808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F46E5"/>
                </a:solidFill>
                <a:latin typeface="Noto Sans"/>
              </a:rPr>
              <a:t>NỀN TẢNG · HỆ THỐNG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66543" y="4160520"/>
            <a:ext cx="2514600" cy="1810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1136" y="4343400"/>
            <a:ext cx="713232" cy="7132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054096" y="4325112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172A"/>
                </a:solidFill>
                <a:latin typeface="Noto Sans"/>
              </a:rPr>
              <a:t>Nguyễn Thế Bảo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54096" y="480060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Noto Sans"/>
              </a:rPr>
              <a:t>TB01573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31136" y="5285231"/>
            <a:ext cx="217627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31136" y="5294375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F46E5"/>
                </a:solidFill>
                <a:latin typeface="Noto Sans"/>
              </a:rPr>
              <a:t>VẬN HÀNH · KANBAN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19472" y="4160520"/>
            <a:ext cx="2514600" cy="1810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khan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4064" y="4343400"/>
            <a:ext cx="713232" cy="7132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907024" y="4325112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172A"/>
                </a:solidFill>
                <a:latin typeface="Noto Sans"/>
              </a:rPr>
              <a:t>Đoàn Quốc Khánh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7024" y="480060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Noto Sans"/>
              </a:rPr>
              <a:t>TB01544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84064" y="5285231"/>
            <a:ext cx="217627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84064" y="5294375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F46E5"/>
                </a:solidFill>
                <a:latin typeface="Noto Sans"/>
              </a:rPr>
              <a:t>QA · KIỂM THỬ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160520"/>
            <a:ext cx="2514600" cy="1810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nha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6992" y="4343400"/>
            <a:ext cx="713232" cy="71323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759952" y="4325112"/>
            <a:ext cx="1353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0F172A"/>
                </a:solidFill>
                <a:latin typeface="Noto Sans"/>
              </a:rPr>
              <a:t>Vũ Hoàng Huy Nhật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9952" y="480060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4748B"/>
                </a:solidFill>
                <a:latin typeface="Noto Sans"/>
              </a:rPr>
              <a:t>TB01605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36992" y="5285231"/>
            <a:ext cx="217627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36992" y="5294375"/>
            <a:ext cx="2176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F46E5"/>
                </a:solidFill>
                <a:latin typeface="Noto Sans"/>
              </a:rPr>
              <a:t>FRONTEND VẬN HÀNH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4748B"/>
                </a:solidFill>
                <a:latin typeface="Noto Sans"/>
              </a:rPr>
              <a:t>NEXTGEN · TỔ CHỨC THEO PHÂN HỆ, TÍCH HỢP TRÊN CÙNG KIẾN TRÚC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BÀI TOÁN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Noto Sa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Noto Sans"/>
              </a:rPr>
              <a:t>SME cần dữ liệu xuyên suốt từ chiến lược đến thực 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Noto Sans"/>
              </a:rPr>
              <a:t>Quy trình rời rạc khiến quản lý phản ứng chậm và khó kiểm chứng quyết định.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48256"/>
            <a:ext cx="5230368" cy="1481328"/>
          </a:xfrm>
          <a:prstGeom prst="roundRect">
            <a:avLst/>
          </a:prstGeom>
          <a:solidFill>
            <a:srgbClr val="FFF1F2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48256"/>
            <a:ext cx="64008" cy="1481328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2231136"/>
            <a:ext cx="43891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24028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11D48"/>
                </a:solidFill>
                <a:latin typeface="Not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231136"/>
            <a:ext cx="42793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Dữ liệu phân tán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60904"/>
            <a:ext cx="47548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KPI/OKR nằm ở nhiều bảng tính và phòng ban; tổng hợp chậm, dễ lệch số.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48256"/>
            <a:ext cx="5230368" cy="1481328"/>
          </a:xfrm>
          <a:prstGeom prst="roundRect">
            <a:avLst/>
          </a:prstGeom>
          <a:solidFill>
            <a:srgbClr val="FFFBEB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048256"/>
            <a:ext cx="64008" cy="148132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10528" y="2231136"/>
            <a:ext cx="43891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24028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59E0B"/>
                </a:solidFill>
                <a:latin typeface="Not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231136"/>
            <a:ext cx="42793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Đánh giá cảm tính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660904"/>
            <a:ext cx="47548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Thiếu baseline đo lường và workflow duyệt rõ trách nhiệm giữa các cấp.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77056"/>
            <a:ext cx="5230368" cy="1481328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877056"/>
            <a:ext cx="64008" cy="1481328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968" y="4059936"/>
            <a:ext cx="43891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06908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7" y="4059936"/>
            <a:ext cx="42793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Chiến lược đứt gãy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489704"/>
            <a:ext cx="47548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Mục tiêu công ty không liên kết rõ tới KR, KPI và đầu việc hằng ngày.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877056"/>
            <a:ext cx="5230368" cy="1481328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877056"/>
            <a:ext cx="64008" cy="1481328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10528" y="4059936"/>
            <a:ext cx="43891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406908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F766E"/>
                </a:solidFill>
                <a:latin typeface="Noto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059936"/>
            <a:ext cx="42793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Can thiệp quá muộn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489704"/>
            <a:ext cx="47548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Không có luồng check-in, cảnh báo và bằng chứng kịp thời để hỗ trợ quyết định.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760720"/>
            <a:ext cx="10863072" cy="512064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79592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"/>
              </a:rPr>
              <a:t>Mấu chốt: một nguồn dữ liệu thống nhất, quyền truy cập đúng phạm vi và AI chỉ đóng vai trò cố vấn.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4748B"/>
                </a:solidFill>
                <a:latin typeface="Noto Sans"/>
              </a:rPr>
              <a:t>NEXTGEN · BIZEN AI-NATIVE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Noto Sa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Noto Sans"/>
              </a:rPr>
              <a:t>Bizen kết nối quản trị mục tiêu thành một vòng vận hành khép kín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993392"/>
            <a:ext cx="19385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3" y="2185416"/>
            <a:ext cx="384048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219456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3" y="261518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Chiến lược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2962656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Noto Sans"/>
              </a:rPr>
              <a:t>Sứ mệnh · Mục tiêu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2487168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4A3B8"/>
                </a:solidFill>
                <a:latin typeface="Noto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1993392"/>
            <a:ext cx="19385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185416"/>
            <a:ext cx="384048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19456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7C3AED"/>
                </a:solidFill>
                <a:latin typeface="Noto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261518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OKR / KR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8104" y="2962656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Noto Sans"/>
              </a:rPr>
              <a:t>Phân rã đa cấp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487168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4A3B8"/>
                </a:solidFill>
                <a:latin typeface="Noto San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9512" y="1993392"/>
            <a:ext cx="19385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04104" y="2185416"/>
            <a:ext cx="384048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04104" y="219456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B6D4"/>
                </a:solidFill>
                <a:latin typeface="Noto Sa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4104" y="261518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2962656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Noto Sans"/>
              </a:rPr>
              <a:t>Target · Trọng số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2487168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4A3B8"/>
                </a:solidFill>
                <a:latin typeface="Noto San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25512" y="1993392"/>
            <a:ext cx="19385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90104" y="2185416"/>
            <a:ext cx="384048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0104" y="219456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F766E"/>
                </a:solidFill>
                <a:latin typeface="Noto San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61518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Thực thi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2962656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Noto Sans"/>
              </a:rPr>
              <a:t>Task · Check-in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2487168"/>
            <a:ext cx="2926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94A3B8"/>
                </a:solidFill>
                <a:latin typeface="Noto San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11512" y="1993392"/>
            <a:ext cx="193852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76104" y="2185416"/>
            <a:ext cx="384048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76104" y="2194560"/>
            <a:ext cx="384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6A34A"/>
                </a:solidFill>
                <a:latin typeface="Noto San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76104" y="2615184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Đánh giá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76104" y="2962656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Noto Sans"/>
              </a:rPr>
              <a:t>Duyệt · Xếp hạng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3986784"/>
            <a:ext cx="3401568" cy="1325880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3986784"/>
            <a:ext cx="64008" cy="132588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41696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Một dữ liệu — nhiều góc nhìn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" y="4599432"/>
            <a:ext cx="292608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Dashboard theo kỳ, phạm vi vai trò và tiến độ thực tế; giảm tổng hợp thủ công.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89120" y="3986784"/>
            <a:ext cx="3401568" cy="132588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0" y="3986784"/>
            <a:ext cx="64008" cy="132588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45152" y="41696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Workflow có trách nhiệm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52" y="4599432"/>
            <a:ext cx="292608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Nhân viên báo cáo, quản lý duyệt, hệ thống tính toán; mọi bước có trạng thái rõ ràng.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3986784"/>
            <a:ext cx="3401568" cy="132588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92440" y="3986784"/>
            <a:ext cx="64008" cy="132588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8471" y="41696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AI gắn vào quyết định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48471" y="4599432"/>
            <a:ext cx="292608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Cố vấn dùng nguồn được phép; con người sửa và xác nhận qua form nghiệp vụ chuẩn.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4748B"/>
                </a:solidFill>
                <a:latin typeface="Noto Sans"/>
              </a:rPr>
              <a:t>NEXTGEN · BIZEN AI-NATIVE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NGƯỜI DÙNG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Noto San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Noto Sans"/>
              </a:rPr>
              <a:t>Một hệ thống, năm vai trò và phạm vi dữ liệu rõ ràng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828800"/>
            <a:ext cx="193852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4F46E5"/>
                </a:solidFill>
                <a:latin typeface="Noto Sans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609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475569"/>
                </a:solidFill>
                <a:latin typeface="Noto Sans"/>
              </a:rPr>
              <a:t>Cấu hình tổ chức &amp; quyền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8" y="1828800"/>
            <a:ext cx="193852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01168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4F46E5"/>
                </a:solidFill>
                <a:latin typeface="Noto Sans"/>
              </a:rPr>
              <a:t>Director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59152"/>
            <a:ext cx="1609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475569"/>
                </a:solidFill>
                <a:latin typeface="Noto Sans"/>
              </a:rPr>
              <a:t>Chiến lược &amp; phê duyệt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76088" y="1828800"/>
            <a:ext cx="193852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79" y="201168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4F46E5"/>
                </a:solidFill>
                <a:latin typeface="Noto Sans"/>
              </a:rPr>
              <a:t>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79" y="2359152"/>
            <a:ext cx="1609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475569"/>
                </a:solidFill>
                <a:latin typeface="Noto Sans"/>
              </a:rPr>
              <a:t>Giao KPI &amp;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62088" y="1828800"/>
            <a:ext cx="193852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01168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4F46E5"/>
                </a:solidFill>
                <a:latin typeface="Noto Sans"/>
              </a:rPr>
              <a:t>Employee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359152"/>
            <a:ext cx="1609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475569"/>
                </a:solidFill>
                <a:latin typeface="Noto Sans"/>
              </a:rPr>
              <a:t>Thực thi &amp; check-in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48088" y="1828800"/>
            <a:ext cx="193852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2011680"/>
            <a:ext cx="1609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4F46E5"/>
                </a:solidFill>
                <a:latin typeface="Noto Sans"/>
              </a:rPr>
              <a:t>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2359152"/>
            <a:ext cx="1609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475569"/>
                </a:solidFill>
                <a:latin typeface="Noto Sans"/>
              </a:rPr>
              <a:t>Kỳ đánh giá &amp; kết quả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383280"/>
            <a:ext cx="10241280" cy="0"/>
          </a:xfrm>
          <a:prstGeom prst="line">
            <a:avLst/>
          </a:prstGeom>
          <a:ln w="38100">
            <a:solidFill>
              <a:srgbClr val="C7D2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051560" y="3191256"/>
            <a:ext cx="384048" cy="384048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21868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73075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Noto Sans"/>
              </a:rPr>
              <a:t>Thiết lập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5" y="4087368"/>
            <a:ext cx="15361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0">
                <a:solidFill>
                  <a:srgbClr val="64748B"/>
                </a:solidFill>
                <a:latin typeface="Noto Sans"/>
              </a:rPr>
              <a:t>Mục tiêu / kỳ</a:t>
            </a:r>
          </a:p>
        </p:txBody>
      </p:sp>
      <p:sp>
        <p:nvSpPr>
          <p:cNvPr id="26" name="Oval 25"/>
          <p:cNvSpPr/>
          <p:nvPr/>
        </p:nvSpPr>
        <p:spPr>
          <a:xfrm>
            <a:off x="3063240" y="3191256"/>
            <a:ext cx="384048" cy="384048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321868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73075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Noto Sans"/>
              </a:rPr>
              <a:t>Giao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4087368"/>
            <a:ext cx="15361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0">
                <a:solidFill>
                  <a:srgbClr val="64748B"/>
                </a:solidFill>
                <a:latin typeface="Noto Sans"/>
              </a:rPr>
              <a:t>OKR / KPI / task</a:t>
            </a:r>
          </a:p>
        </p:txBody>
      </p:sp>
      <p:sp>
        <p:nvSpPr>
          <p:cNvPr id="30" name="Oval 29"/>
          <p:cNvSpPr/>
          <p:nvPr/>
        </p:nvSpPr>
        <p:spPr>
          <a:xfrm>
            <a:off x="5074920" y="3191256"/>
            <a:ext cx="384048" cy="384048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321868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73075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Noto Sans"/>
              </a:rPr>
              <a:t>Thực thi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45736" y="4087368"/>
            <a:ext cx="15361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0">
                <a:solidFill>
                  <a:srgbClr val="64748B"/>
                </a:solidFill>
                <a:latin typeface="Noto Sans"/>
              </a:rPr>
              <a:t>Kanban / check-in</a:t>
            </a:r>
          </a:p>
        </p:txBody>
      </p:sp>
      <p:sp>
        <p:nvSpPr>
          <p:cNvPr id="34" name="Oval 33"/>
          <p:cNvSpPr/>
          <p:nvPr/>
        </p:nvSpPr>
        <p:spPr>
          <a:xfrm>
            <a:off x="7086600" y="3191256"/>
            <a:ext cx="384048" cy="384048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321868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73075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Noto Sans"/>
              </a:rPr>
              <a:t>Kiểm soát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7416" y="4087368"/>
            <a:ext cx="15361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0">
                <a:solidFill>
                  <a:srgbClr val="64748B"/>
                </a:solidFill>
                <a:latin typeface="Noto Sans"/>
              </a:rPr>
              <a:t>Review / phê duyệt</a:t>
            </a:r>
          </a:p>
        </p:txBody>
      </p:sp>
      <p:sp>
        <p:nvSpPr>
          <p:cNvPr id="38" name="Oval 37"/>
          <p:cNvSpPr/>
          <p:nvPr/>
        </p:nvSpPr>
        <p:spPr>
          <a:xfrm>
            <a:off x="9098280" y="3191256"/>
            <a:ext cx="384048" cy="384048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321868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oto San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373075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Noto Sans"/>
              </a:rPr>
              <a:t>Ra quyết định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69096" y="4087368"/>
            <a:ext cx="15361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0">
                <a:solidFill>
                  <a:srgbClr val="64748B"/>
                </a:solidFill>
                <a:latin typeface="Noto Sans"/>
              </a:rPr>
              <a:t>Dashboard / đánh giá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4983480"/>
            <a:ext cx="10808208" cy="804672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5230368"/>
            <a:ext cx="10287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Noto Sans"/>
              </a:rPr>
              <a:t>RBAC + phạm vi tenant/phòng ban/nhân viên đi cùng mọi thao tác đọc và ghi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4748B"/>
                </a:solidFill>
                <a:latin typeface="Noto Sans"/>
              </a:rPr>
              <a:t>NEXTGEN · BIZEN AI-NATIVE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111C33"/>
          </a:solidFill>
          <a:ln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B6D4"/>
                </a:solidFill>
                <a:latin typeface="Noto Sans"/>
              </a:rPr>
              <a:t>KIẾN TRÚC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BD5E1"/>
                </a:solidFill>
                <a:latin typeface="Noto San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Noto Sans"/>
              </a:rPr>
              <a:t>Nền tảng web phân tầng, bảo mật dữ liệu theo 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BD5E1"/>
                </a:solidFill>
                <a:latin typeface="Noto Sans"/>
              </a:rPr>
              <a:t>ASP.NET Core MVC · EF Core · SQL Server · AI model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10351008" cy="713232"/>
          </a:xfrm>
          <a:prstGeom prst="roundRect">
            <a:avLst/>
          </a:prstGeom>
          <a:solidFill>
            <a:srgbClr val="18243D"/>
          </a:solidFill>
          <a:ln w="1016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194560"/>
            <a:ext cx="1325880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0370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6B6D4"/>
                </a:solidFill>
                <a:latin typeface="Noto Sans"/>
              </a:rPr>
              <a:t>TRẢI NGHIỆM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2194560"/>
            <a:ext cx="8092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"/>
              </a:rPr>
              <a:t>Razor + Bootstrap · Dashboard · OKR/KPI · Kanban · Check-in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71800"/>
            <a:ext cx="10351008" cy="713232"/>
          </a:xfrm>
          <a:prstGeom prst="roundRect">
            <a:avLst/>
          </a:prstGeom>
          <a:solidFill>
            <a:srgbClr val="17233B"/>
          </a:solidFill>
          <a:ln w="1016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3154680"/>
            <a:ext cx="1325880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16382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F46E5"/>
                </a:solidFill>
                <a:latin typeface="Noto Sans"/>
              </a:rPr>
              <a:t>NGHIỆP VỤ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3154680"/>
            <a:ext cx="8092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"/>
              </a:rPr>
              <a:t>Controllers · Services · Validators · Authorization filters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31920"/>
            <a:ext cx="10351008" cy="713232"/>
          </a:xfrm>
          <a:prstGeom prst="roundRect">
            <a:avLst/>
          </a:prstGeom>
          <a:solidFill>
            <a:srgbClr val="152239"/>
          </a:solidFill>
          <a:ln w="1016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4114800"/>
            <a:ext cx="1325880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12394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F766E"/>
                </a:solidFill>
                <a:latin typeface="Noto Sans"/>
              </a:rPr>
              <a:t>DỮ LIỆU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4114800"/>
            <a:ext cx="8092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"/>
              </a:rPr>
              <a:t>EF Core · Transactions · RowVersion · SQL Server 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92040"/>
            <a:ext cx="10351008" cy="713232"/>
          </a:xfrm>
          <a:prstGeom prst="roundRect">
            <a:avLst/>
          </a:prstGeom>
          <a:solidFill>
            <a:srgbClr val="132137"/>
          </a:solidFill>
          <a:ln w="1016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3000" y="5074920"/>
            <a:ext cx="1325880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508406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7C3AED"/>
                </a:solidFill>
                <a:latin typeface="Noto Sans"/>
              </a:rPr>
              <a:t>AI-NATIVE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5074920"/>
            <a:ext cx="8092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Noto Sans"/>
              </a:rPr>
              <a:t>Advisor contracts · AgentRun · Outbox · Citation metadata · RAG ACL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61888"/>
            <a:ext cx="10332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CBD5E1"/>
                </a:solidFill>
                <a:latin typeface="Noto Sans"/>
              </a:rPr>
              <a:t>Mọi write chính thức đều đi qua validator + quyền + transaction của nghiệp vụ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Noto San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Noto Sans"/>
              </a:rPr>
              <a:t>Dashboard hợp nhất tiến độ, con người và hành động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00784"/>
            <a:ext cx="10954512" cy="4306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dashboard.png"/>
          <p:cNvPicPr>
            <a:picLocks noChangeAspect="1"/>
          </p:cNvPicPr>
          <p:nvPr/>
        </p:nvPicPr>
        <p:blipFill>
          <a:blip r:embed="rId2"/>
          <a:srcRect t="10475" b="10475"/>
          <a:stretch>
            <a:fillRect/>
          </a:stretch>
        </p:blipFill>
        <p:spPr>
          <a:xfrm>
            <a:off x="658368" y="1737360"/>
            <a:ext cx="10881360" cy="4233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32688" y="1975104"/>
            <a:ext cx="841248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Noto Sans"/>
              </a:rPr>
              <a:t>THEO KỲ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975104"/>
            <a:ext cx="969264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984248"/>
            <a:ext cx="9692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Noto Sans"/>
              </a:rPr>
              <a:t>OKR / KPI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73184" y="1975104"/>
            <a:ext cx="1280160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73184" y="19842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6B6D4"/>
                </a:solidFill>
                <a:latin typeface="Noto Sans"/>
              </a:rPr>
              <a:t>AI ADVISORY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4748B"/>
                </a:solidFill>
                <a:latin typeface="Noto Sans"/>
              </a:rPr>
              <a:t>GIAO DIỆN THỰC TẾ · DASHBOARD THEO PHẠM VI NGƯỜI DÙNG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Noto San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Noto Sans"/>
              </a:rPr>
              <a:t>Từ Objective đến KPI có target, trọng số và người chịu trách nhiệm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719072"/>
            <a:ext cx="5486400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okrs.png"/>
          <p:cNvPicPr>
            <a:picLocks noChangeAspect="1"/>
          </p:cNvPicPr>
          <p:nvPr/>
        </p:nvPicPr>
        <p:blipFill>
          <a:blip r:embed="rId2"/>
          <a:srcRect t="64" b="64"/>
          <a:stretch>
            <a:fillRect/>
          </a:stretch>
        </p:blipFill>
        <p:spPr>
          <a:xfrm>
            <a:off x="621792" y="1755648"/>
            <a:ext cx="5413248" cy="26609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1719072"/>
            <a:ext cx="5486400" cy="27340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kpis.png"/>
          <p:cNvPicPr>
            <a:picLocks noChangeAspect="1"/>
          </p:cNvPicPr>
          <p:nvPr/>
        </p:nvPicPr>
        <p:blipFill>
          <a:blip r:embed="rId3"/>
          <a:srcRect t="64" b="64"/>
          <a:stretch>
            <a:fillRect/>
          </a:stretch>
        </p:blipFill>
        <p:spPr>
          <a:xfrm>
            <a:off x="6163056" y="1755648"/>
            <a:ext cx="5413248" cy="26609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1938528"/>
            <a:ext cx="1417320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4767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Noto Sans"/>
              </a:rPr>
              <a:t>OKR / KEY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938528"/>
            <a:ext cx="1417320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94767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Noto Sans"/>
              </a:rPr>
              <a:t>KPI / ASSIGNMENT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828032"/>
            <a:ext cx="1572768" cy="603504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2005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4F46E5"/>
                </a:solidFill>
                <a:latin typeface="Noto Sans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8" y="5001768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Noto San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27248" y="4828032"/>
            <a:ext cx="1572768" cy="603504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248" y="502005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4F46E5"/>
                </a:solidFill>
                <a:latin typeface="Noto Sans"/>
              </a:rPr>
              <a:t>Key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5001768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Noto San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0096" y="4828032"/>
            <a:ext cx="1572768" cy="603504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502005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4F46E5"/>
                </a:solidFill>
                <a:latin typeface="Noto Sans"/>
              </a:rPr>
              <a:t>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3" y="5001768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Noto San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52944" y="4828032"/>
            <a:ext cx="1572768" cy="603504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52944" y="502005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F766E"/>
                </a:solidFill>
                <a:latin typeface="Noto Sans"/>
              </a:rPr>
              <a:t>Assignee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5001768"/>
            <a:ext cx="5120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Noto San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65792" y="4828032"/>
            <a:ext cx="1572768" cy="603504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502005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F766E"/>
                </a:solidFill>
                <a:latin typeface="Noto Sans"/>
              </a:rPr>
              <a:t>Check-in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779008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475569"/>
                </a:solidFill>
                <a:latin typeface="Noto Sans"/>
              </a:rPr>
              <a:t>Liên kết được lưu trong mô hình dữ liệu và kiểm tra lại ở server — không phụ thuộc dữ liệu browser.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4748B"/>
                </a:solidFill>
                <a:latin typeface="Noto Sans"/>
              </a:rPr>
              <a:t>NEXTGEN · BIZEN AI-NATIVE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THỰC THI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Noto San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Noto Sans"/>
              </a:rPr>
              <a:t>Check-in có lịch sử, công thức server và cổng phê duyệt của con người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3" y="1755648"/>
            <a:ext cx="7132320" cy="42793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checkin.png"/>
          <p:cNvPicPr>
            <a:picLocks noChangeAspect="1"/>
          </p:cNvPicPr>
          <p:nvPr/>
        </p:nvPicPr>
        <p:blipFill>
          <a:blip r:embed="rId2"/>
          <a:srcRect l="8699" r="8699"/>
          <a:stretch>
            <a:fillRect/>
          </a:stretch>
        </p:blipFill>
        <p:spPr>
          <a:xfrm>
            <a:off x="640080" y="1792224"/>
            <a:ext cx="7059168" cy="4206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73568" y="1856231"/>
            <a:ext cx="3529584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73568" y="1856231"/>
            <a:ext cx="64008" cy="83210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74736" y="2039112"/>
            <a:ext cx="43891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2048255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3376" y="2039112"/>
            <a:ext cx="2578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Nhân viên báo cáo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468879"/>
            <a:ext cx="3054096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Giá trị đạt được + rào cản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2834639"/>
            <a:ext cx="3529584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73568" y="2834639"/>
            <a:ext cx="64008" cy="83210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74736" y="3017520"/>
            <a:ext cx="43891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3026663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3017520"/>
            <a:ext cx="2578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Server tính tiến độ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447287"/>
            <a:ext cx="3054096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Target, trọng số, KPI thuận/nghịch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3813048"/>
            <a:ext cx="3529584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3568" y="3813048"/>
            <a:ext cx="64008" cy="83210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74736" y="3995928"/>
            <a:ext cx="43891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400507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3376" y="3995928"/>
            <a:ext cx="2578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Quản lý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425696"/>
            <a:ext cx="3054096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Điểm, nhận xét, approve/reject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73568" y="4791456"/>
            <a:ext cx="3529584" cy="8321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73568" y="4791456"/>
            <a:ext cx="64008" cy="832104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74736" y="4974336"/>
            <a:ext cx="43891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498348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6A34A"/>
                </a:solidFill>
                <a:latin typeface="Noto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3376" y="4974336"/>
            <a:ext cx="25786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Snapshot chính thức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404104"/>
            <a:ext cx="3054096" cy="82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Chỉ Approved mới làm baseline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3568" y="5687568"/>
            <a:ext cx="3529584" cy="43891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5806440"/>
            <a:ext cx="3529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6A34A"/>
                </a:solidFill>
                <a:latin typeface="Noto Sans"/>
              </a:rPr>
              <a:t>Human approval là cổng cuối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4748B"/>
                </a:solidFill>
                <a:latin typeface="Noto Sans"/>
              </a:rPr>
              <a:t>NEXTGEN · BIZEN AI-NATIVE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111C33"/>
          </a:solidFill>
          <a:ln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B6D4"/>
                </a:solidFill>
                <a:latin typeface="Noto Sans"/>
              </a:rPr>
              <a:t>AI-NATIVE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BD5E1"/>
                </a:solidFill>
                <a:latin typeface="Noto San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Noto Sans"/>
              </a:rPr>
              <a:t>AI đề xuất, con người quyết định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CBD5E1"/>
                </a:solidFill>
                <a:latin typeface="Noto Sans"/>
              </a:rPr>
              <a:t>DeepSeek V4 Pro · strict JSON · human approval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10512"/>
            <a:ext cx="6062472" cy="34838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ai.png"/>
          <p:cNvPicPr>
            <a:picLocks noChangeAspect="1"/>
          </p:cNvPicPr>
          <p:nvPr/>
        </p:nvPicPr>
        <p:blipFill>
          <a:blip r:embed="rId2"/>
          <a:srcRect l="6785" r="6785"/>
          <a:stretch>
            <a:fillRect/>
          </a:stretch>
        </p:blipFill>
        <p:spPr>
          <a:xfrm>
            <a:off x="658368" y="1847088"/>
            <a:ext cx="5989320" cy="341071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022592" y="1874519"/>
            <a:ext cx="4443984" cy="804672"/>
          </a:xfrm>
          <a:prstGeom prst="roundRect">
            <a:avLst/>
          </a:prstGeom>
          <a:solidFill>
            <a:srgbClr val="111C33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23760" y="2093976"/>
            <a:ext cx="749808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10312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7C3AED"/>
                </a:solidFill>
                <a:latin typeface="Noto Sans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1993391"/>
            <a:ext cx="299923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Noto Sans"/>
              </a:rPr>
              <a:t>Sinh draft có cấu trúc
và source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22592" y="2898648"/>
            <a:ext cx="4443984" cy="804672"/>
          </a:xfrm>
          <a:prstGeom prst="roundRect">
            <a:avLst/>
          </a:prstGeom>
          <a:solidFill>
            <a:srgbClr val="111C33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23760" y="3118104"/>
            <a:ext cx="749808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127248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06B6D4"/>
                </a:solidFill>
                <a:latin typeface="Noto Sans"/>
              </a:rP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3017520"/>
            <a:ext cx="299923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Noto Sans"/>
              </a:rPr>
              <a:t>Kiểm schema · quyền
nguồn · fingerprint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22592" y="3922776"/>
            <a:ext cx="4443984" cy="804672"/>
          </a:xfrm>
          <a:prstGeom prst="roundRect">
            <a:avLst/>
          </a:prstGeom>
          <a:solidFill>
            <a:srgbClr val="111C33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23760" y="4142232"/>
            <a:ext cx="749808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151376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16A34A"/>
                </a:solidFill>
                <a:latin typeface="Noto Sans"/>
              </a:rPr>
              <a:t>HUMAN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4041648"/>
            <a:ext cx="299923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Noto Sans"/>
              </a:rPr>
              <a:t>Xem · sửa · chấp nhận
hoặc từ chối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22592" y="4946904"/>
            <a:ext cx="4443984" cy="804672"/>
          </a:xfrm>
          <a:prstGeom prst="roundRect">
            <a:avLst/>
          </a:prstGeom>
          <a:solidFill>
            <a:srgbClr val="111C33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5166360"/>
            <a:ext cx="749808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5175504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>
                <a:solidFill>
                  <a:srgbClr val="4F46E5"/>
                </a:solidFill>
                <a:latin typeface="Noto Sans"/>
              </a:rPr>
              <a:t>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5065776"/>
            <a:ext cx="299923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FFFFFF"/>
                </a:solidFill>
                <a:latin typeface="Noto Sans"/>
              </a:rPr>
              <a:t>Form chuẩn mới ghi
dữ liệu chính thức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760720"/>
            <a:ext cx="10698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CBD5E1"/>
                </a:solidFill>
                <a:latin typeface="Noto Sans"/>
              </a:rPr>
              <a:t>Không AI nào tự duyệt KPI/OKR, tự sửa điểm, xếp hạng hay thưởng.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PHẠM VI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Noto San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Noto Sans"/>
              </a:rPr>
              <a:t>Chín luồng cố vấn đã hội tụ về cùng một kiến trúc kiểm soát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34015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011680"/>
            <a:ext cx="41148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208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F46E5"/>
                </a:solidFill>
                <a:latin typeface="Noto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993392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0F172A"/>
                </a:solidFill>
                <a:latin typeface="Noto Sans"/>
              </a:rPr>
              <a:t>Goal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368296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4748B"/>
                </a:solidFill>
                <a:latin typeface="Noto Sans"/>
              </a:rPr>
              <a:t>Ba task plan có nguồn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847088"/>
            <a:ext cx="34015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81144" y="2011680"/>
            <a:ext cx="41148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20208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7C3AED"/>
                </a:solidFill>
                <a:latin typeface="Noto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9784" y="1993392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0F172A"/>
                </a:solidFill>
                <a:latin typeface="Noto Sans"/>
              </a:rPr>
              <a:t>Check-in Evaluator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368296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4748B"/>
                </a:solidFill>
                <a:latin typeface="Noto Sans"/>
              </a:rPr>
              <a:t>Định lượng + rubric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847088"/>
            <a:ext cx="34015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11896" y="2011680"/>
            <a:ext cx="41148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0208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6B6D4"/>
                </a:solidFill>
                <a:latin typeface="Noto San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1993392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0F172A"/>
                </a:solidFill>
                <a:latin typeface="Noto Sans"/>
              </a:rPr>
              <a:t>KR Advisor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2368296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4748B"/>
                </a:solidFill>
                <a:latin typeface="Noto Sans"/>
              </a:rPr>
              <a:t>Đánh giá candidate KR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108960"/>
            <a:ext cx="34015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3273552"/>
            <a:ext cx="41148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28269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F766E"/>
                </a:solidFill>
                <a:latin typeface="Noto San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3255264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0F172A"/>
                </a:solidFill>
                <a:latin typeface="Noto Sans"/>
              </a:rPr>
              <a:t>Review 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9032" y="3630168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4748B"/>
                </a:solidFill>
                <a:latin typeface="Noto Sans"/>
              </a:rPr>
              <a:t>Nháp nhận xét 1-on-1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6552" y="3108960"/>
            <a:ext cx="34015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81144" y="3273552"/>
            <a:ext cx="41148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328269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6A34A"/>
                </a:solidFill>
                <a:latin typeface="Noto San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9784" y="3255264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0F172A"/>
                </a:solidFill>
                <a:latin typeface="Noto Sans"/>
              </a:rPr>
              <a:t>Customer Segment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9784" y="3630168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4748B"/>
                </a:solidFill>
                <a:latin typeface="Noto Sans"/>
              </a:rPr>
              <a:t>Phân khúc tham khảo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47304" y="3108960"/>
            <a:ext cx="34015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11896" y="3273552"/>
            <a:ext cx="41148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328269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59E0B"/>
                </a:solidFill>
                <a:latin typeface="Noto San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0536" y="3255264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0F172A"/>
                </a:solidFill>
                <a:latin typeface="Noto Sans"/>
              </a:rPr>
              <a:t>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0536" y="3630168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4748B"/>
                </a:solidFill>
                <a:latin typeface="Noto Sans"/>
              </a:rPr>
              <a:t>Insight từ check-in duyệt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370831"/>
            <a:ext cx="34015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0392" y="4535423"/>
            <a:ext cx="41148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454456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4F46E5"/>
                </a:solidFill>
                <a:latin typeface="Noto San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9032" y="4517136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0F172A"/>
                </a:solidFill>
                <a:latin typeface="Noto Sans"/>
              </a:rPr>
              <a:t>KPI Suggestion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99032" y="4892040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4748B"/>
                </a:solidFill>
                <a:latin typeface="Noto Sans"/>
              </a:rPr>
              <a:t>3–5 KPI draft hợp lệ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16552" y="4370831"/>
            <a:ext cx="34015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81144" y="4535423"/>
            <a:ext cx="41148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81144" y="454456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7C3AED"/>
                </a:solidFill>
                <a:latin typeface="Noto Sans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9784" y="4517136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0F172A"/>
                </a:solidFill>
                <a:latin typeface="Noto Sans"/>
              </a:rPr>
              <a:t>Chat Advisor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9784" y="4892040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4748B"/>
                </a:solidFill>
                <a:latin typeface="Noto Sans"/>
              </a:rPr>
              <a:t>Hỏi đáp có citation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47304" y="4370831"/>
            <a:ext cx="340156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11896" y="4535423"/>
            <a:ext cx="41148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11896" y="4544567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06B6D4"/>
                </a:solidFill>
                <a:latin typeface="Noto Sans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0536" y="4517136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0F172A"/>
                </a:solidFill>
                <a:latin typeface="Noto Sans"/>
              </a:rPr>
              <a:t>KR Suggestion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0536" y="4892040"/>
            <a:ext cx="2450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64748B"/>
                </a:solidFill>
                <a:latin typeface="Noto Sans"/>
              </a:rPr>
              <a:t>Gợi ý/refine KR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5797296"/>
            <a:ext cx="10863072" cy="384048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897880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40" b="1">
                <a:solidFill>
                  <a:srgbClr val="4F46E5"/>
                </a:solidFill>
                <a:latin typeface="Noto Sans"/>
              </a:rPr>
              <a:t>Mẫu chung: authorized snapshot → strict JSON → validate → recheck source → human action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4748B"/>
                </a:solidFill>
                <a:latin typeface="Noto Sans"/>
              </a:rPr>
              <a:t>NEXTGEN · BIZEN AI-NATIVE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BẰNG CHỨNG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Noto San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Noto Sans"/>
              </a:rPr>
              <a:t>Advisor chỉ dùng nguồn được cấp quyền và có thể truy vết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50992" y="1719072"/>
            <a:ext cx="5943600" cy="4343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quence_ai.png"/>
          <p:cNvPicPr>
            <a:picLocks noChangeAspect="1"/>
          </p:cNvPicPr>
          <p:nvPr/>
        </p:nvPicPr>
        <p:blipFill>
          <a:blip r:embed="rId2"/>
          <a:srcRect l="10" r="10"/>
          <a:stretch>
            <a:fillRect/>
          </a:stretch>
        </p:blipFill>
        <p:spPr>
          <a:xfrm>
            <a:off x="5687568" y="1755648"/>
            <a:ext cx="5870448" cy="42702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1856231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46E5"/>
                </a:solidFill>
                <a:latin typeface="Noto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82880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0F172A"/>
                </a:solidFill>
                <a:latin typeface="Noto Sans"/>
              </a:rPr>
              <a:t>Authorized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121408"/>
            <a:ext cx="4041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475569"/>
                </a:solidFill>
                <a:latin typeface="Noto Sans"/>
              </a:rPr>
              <a:t>Server dựng scope kỳ, OKR/KPI và tenant.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2514600"/>
            <a:ext cx="455371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2660903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46E5"/>
                </a:solidFill>
                <a:latin typeface="Noto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63347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0F172A"/>
                </a:solidFill>
                <a:latin typeface="Noto Sans"/>
              </a:rPr>
              <a:t>Strict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926079"/>
            <a:ext cx="4041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475569"/>
                </a:solidFill>
                <a:latin typeface="Noto Sans"/>
              </a:rPr>
              <a:t>Model chỉ trả JSON + source IDs được cấp.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3319272"/>
            <a:ext cx="455371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3465575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46E5"/>
                </a:solidFill>
                <a:latin typeface="Noto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43814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0F172A"/>
                </a:solidFill>
                <a:latin typeface="Noto Sans"/>
              </a:rPr>
              <a:t>Citation metadata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3730752"/>
            <a:ext cx="4041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475569"/>
                </a:solidFill>
                <a:latin typeface="Noto Sans"/>
              </a:rPr>
              <a:t>Lưu ID/hash để audit, không lưu prompt thô.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4123944"/>
            <a:ext cx="455371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4270248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46E5"/>
                </a:solidFill>
                <a:latin typeface="Noto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24281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0F172A"/>
                </a:solidFill>
                <a:latin typeface="Noto Sans"/>
              </a:rPr>
              <a:t>Stale-safe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535424"/>
            <a:ext cx="4041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475569"/>
                </a:solidFill>
                <a:latin typeface="Noto Sans"/>
              </a:rPr>
              <a:t>Dựng lại snapshot trong transaction trước commit.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4928616"/>
            <a:ext cx="455371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507492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4F46E5"/>
                </a:solidFill>
                <a:latin typeface="Noto San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5047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0F172A"/>
                </a:solidFill>
                <a:latin typeface="Noto Sans"/>
              </a:rPr>
              <a:t>Abstain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1872" y="5340096"/>
            <a:ext cx="4041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>
                <a:solidFill>
                  <a:srgbClr val="475569"/>
                </a:solidFill>
                <a:latin typeface="Noto Sans"/>
              </a:rPr>
              <a:t>Thiếu bằng chứng thì trả rỗng, không đoán.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3232" y="5733288"/>
            <a:ext cx="455371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4748B"/>
                </a:solidFill>
                <a:latin typeface="Noto Sans"/>
              </a:rPr>
              <a:t>RAG: PRIVATE MINIO → MINERU → BGE-M3 → QDRANT DENSE VECTOR → TYPED ACL → SQL RECHECK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111C33"/>
          </a:solidFill>
          <a:ln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B6D4"/>
                </a:solidFill>
                <a:latin typeface="Noto Sans"/>
              </a:rPr>
              <a:t>ĐỘ TIN CẬY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CBD5E1"/>
                </a:solidFill>
                <a:latin typeface="Noto San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Noto Sans"/>
              </a:rPr>
              <a:t>Bảo vệ dữ liệu và xử lý bền vững ngay trong kiến trúc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28800"/>
            <a:ext cx="22402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975104"/>
            <a:ext cx="18379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6B6D4"/>
                </a:solidFill>
                <a:latin typeface="Noto San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395728"/>
            <a:ext cx="1837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72A"/>
                </a:solidFill>
                <a:latin typeface="Noto Sans"/>
              </a:rPr>
              <a:t>bảng có SQL Server RLS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633472"/>
            <a:ext cx="18379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Noto Sans"/>
              </a:rPr>
              <a:t>filter + block predicate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828800"/>
            <a:ext cx="22402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975104"/>
            <a:ext cx="18379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7C3AED"/>
                </a:solidFill>
                <a:latin typeface="Noto Sans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395728"/>
            <a:ext cx="1837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72A"/>
                </a:solidFill>
                <a:latin typeface="Noto Sans"/>
              </a:rPr>
              <a:t>scope do server xác định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633472"/>
            <a:ext cx="18379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Noto Sans"/>
              </a:rPr>
              <a:t>không nhận TenantId từ browser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50992" y="1828800"/>
            <a:ext cx="22402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59" y="1975104"/>
            <a:ext cx="18379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A34A"/>
                </a:solidFill>
                <a:latin typeface="Noto Sa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2395728"/>
            <a:ext cx="18379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72A"/>
                </a:solidFill>
                <a:latin typeface="Noto Sans"/>
              </a:rPr>
              <a:t>human gate trước 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2633472"/>
            <a:ext cx="18379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Noto Sans"/>
              </a:rPr>
              <a:t>form nghiệp vụ chuẩn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828800"/>
            <a:ext cx="27889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1975104"/>
            <a:ext cx="23865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9E0B"/>
                </a:solidFill>
                <a:latin typeface="Noto San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395728"/>
            <a:ext cx="23865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72A"/>
                </a:solidFill>
                <a:latin typeface="Noto Sans"/>
              </a:rPr>
              <a:t>prompt/raw response lưu mới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633472"/>
            <a:ext cx="2386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Noto Sans"/>
              </a:rPr>
              <a:t>chỉ metadata kiểm toán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246120"/>
            <a:ext cx="5166360" cy="2304288"/>
          </a:xfrm>
          <a:prstGeom prst="roundRect">
            <a:avLst/>
          </a:prstGeom>
          <a:solidFill>
            <a:srgbClr val="111C33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3493008"/>
            <a:ext cx="1389888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502151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6B6D4"/>
                </a:solidFill>
                <a:latin typeface="Noto Sans"/>
              </a:rPr>
              <a:t>TENANT DEFENSE</a:t>
            </a:r>
          </a:p>
        </p:txBody>
      </p:sp>
      <p:sp>
        <p:nvSpPr>
          <p:cNvPr id="25" name="Oval 24"/>
          <p:cNvSpPr/>
          <p:nvPr/>
        </p:nvSpPr>
        <p:spPr>
          <a:xfrm>
            <a:off x="987552" y="4032504"/>
            <a:ext cx="109728" cy="10972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3959352"/>
            <a:ext cx="43525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Noto Sans"/>
              </a:rPr>
              <a:t>Tenant query filters + composite tenant foreign keys</a:t>
            </a:r>
          </a:p>
        </p:txBody>
      </p:sp>
      <p:sp>
        <p:nvSpPr>
          <p:cNvPr id="27" name="Oval 26"/>
          <p:cNvSpPr/>
          <p:nvPr/>
        </p:nvSpPr>
        <p:spPr>
          <a:xfrm>
            <a:off x="987552" y="4526280"/>
            <a:ext cx="109728" cy="10972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4453128"/>
            <a:ext cx="43525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Noto Sans"/>
              </a:rPr>
              <a:t>SESSION_CONTEXT fail-closed cho raw SQL / IgnoreQueryFilters</a:t>
            </a:r>
          </a:p>
        </p:txBody>
      </p:sp>
      <p:sp>
        <p:nvSpPr>
          <p:cNvPr id="29" name="Oval 28"/>
          <p:cNvSpPr/>
          <p:nvPr/>
        </p:nvSpPr>
        <p:spPr>
          <a:xfrm>
            <a:off x="987552" y="5020056"/>
            <a:ext cx="109728" cy="10972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4946904"/>
            <a:ext cx="43525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Noto Sans"/>
              </a:rPr>
              <a:t>RAG ACL theo user · role · department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3246120"/>
            <a:ext cx="5166360" cy="2304288"/>
          </a:xfrm>
          <a:prstGeom prst="roundRect">
            <a:avLst/>
          </a:prstGeom>
          <a:solidFill>
            <a:srgbClr val="111C33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82512" y="3493008"/>
            <a:ext cx="1389888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3502151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7C3AED"/>
                </a:solidFill>
                <a:latin typeface="Noto Sans"/>
              </a:rPr>
              <a:t>RUNTIME SAFETY</a:t>
            </a:r>
          </a:p>
        </p:txBody>
      </p:sp>
      <p:sp>
        <p:nvSpPr>
          <p:cNvPr id="34" name="Oval 33"/>
          <p:cNvSpPr/>
          <p:nvPr/>
        </p:nvSpPr>
        <p:spPr>
          <a:xfrm>
            <a:off x="6382512" y="4032504"/>
            <a:ext cx="109728" cy="1097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1968" y="3959352"/>
            <a:ext cx="43525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Noto Sans"/>
              </a:rPr>
              <a:t>Durable outbox: lease · retry · dead-letter</a:t>
            </a:r>
          </a:p>
        </p:txBody>
      </p:sp>
      <p:sp>
        <p:nvSpPr>
          <p:cNvPr id="36" name="Oval 35"/>
          <p:cNvSpPr/>
          <p:nvPr/>
        </p:nvSpPr>
        <p:spPr>
          <a:xfrm>
            <a:off x="6382512" y="4526280"/>
            <a:ext cx="109728" cy="1097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01968" y="4453128"/>
            <a:ext cx="43525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Noto Sans"/>
              </a:rPr>
              <a:t>Idempotency + source fingerprint + row-version</a:t>
            </a:r>
          </a:p>
        </p:txBody>
      </p:sp>
      <p:sp>
        <p:nvSpPr>
          <p:cNvPr id="38" name="Oval 37"/>
          <p:cNvSpPr/>
          <p:nvPr/>
        </p:nvSpPr>
        <p:spPr>
          <a:xfrm>
            <a:off x="6382512" y="5020056"/>
            <a:ext cx="109728" cy="1097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4946904"/>
            <a:ext cx="43525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Noto Sans"/>
              </a:rPr>
              <a:t>Serializable recheck cho dữ liệu và quyền thay đổi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5961888"/>
            <a:ext cx="10561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BD5E1"/>
                </a:solidFill>
                <a:latin typeface="Noto Sans"/>
              </a:rPr>
              <a:t>Security và reliability là điều kiện vận hành, không phải lớp trang trí sau cùng.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Noto San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Noto Sans"/>
              </a:rPr>
              <a:t>Mô hình quan hệ giữ liên kết từ tổ chức đến kết quả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19072"/>
            <a:ext cx="8485632" cy="44988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rd_diagram.png"/>
          <p:cNvPicPr>
            <a:picLocks noChangeAspect="1"/>
          </p:cNvPicPr>
          <p:nvPr/>
        </p:nvPicPr>
        <p:blipFill>
          <a:blip r:embed="rId2"/>
          <a:srcRect t="12259" b="12259"/>
          <a:stretch>
            <a:fillRect/>
          </a:stretch>
        </p:blipFill>
        <p:spPr>
          <a:xfrm>
            <a:off x="658368" y="1755648"/>
            <a:ext cx="8412480" cy="44256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308592" y="1792224"/>
            <a:ext cx="2194560" cy="1060704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08592" y="1792224"/>
            <a:ext cx="64008" cy="1060704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64624" y="1975104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Tổ chức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64624" y="2404872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SystemUser · Employee · Department · 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08592" y="2999232"/>
            <a:ext cx="2194560" cy="1060704"/>
          </a:xfrm>
          <a:prstGeom prst="roundRect">
            <a:avLst/>
          </a:prstGeom>
          <a:solidFill>
            <a:srgbClr val="EEF2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8592" y="2999232"/>
            <a:ext cx="64008" cy="106070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64624" y="3182112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Mục tiêu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64624" y="3611879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OKR · Key Result · KPI · KPI Detail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08592" y="4206240"/>
            <a:ext cx="2194560" cy="1060704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8592" y="4206240"/>
            <a:ext cx="64008" cy="1060704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4624" y="4389120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Thực thi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4818888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WorkProject · WorkItem · Check-in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8592" y="5440680"/>
            <a:ext cx="2194560" cy="667512"/>
          </a:xfrm>
          <a:prstGeom prst="roundRect">
            <a:avLst/>
          </a:prstGeom>
          <a:solidFill>
            <a:srgbClr val="0B1220"/>
          </a:solidFill>
          <a:ln w="1016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557784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oto Sans"/>
              </a:rPr>
              <a:t>Dữ liệu liên thông
→ báo cáo nhất quán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4748B"/>
                </a:solidFill>
                <a:latin typeface="Noto Sans"/>
              </a:rPr>
              <a:t>NEXTGEN · BIZEN AI-NATIVE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17320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9319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KIỂM CHỨNG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37392" y="3383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4748B"/>
                </a:solidFill>
                <a:latin typeface="Noto San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F172A"/>
                </a:solidFill>
                <a:latin typeface="Noto Sans"/>
              </a:rPr>
              <a:t>Build, test và SQL Server thật: bằng chứng chất lượng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4748B"/>
                </a:solidFill>
                <a:latin typeface="Noto Sans"/>
              </a:rPr>
              <a:t>Snapshot local được ghi nhận ngày 11/08/2026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01952"/>
            <a:ext cx="25146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48256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A34A"/>
                </a:solidFill>
                <a:latin typeface="Noto Sans"/>
              </a:rPr>
              <a:t>586/586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12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72A"/>
                </a:solidFill>
                <a:latin typeface="Noto Sans"/>
              </a:rPr>
              <a:t>test solution chạy xanh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06624"/>
            <a:ext cx="21122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Noto Sans"/>
              </a:rPr>
              <a:t>unit + integration + SQL tests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901952"/>
            <a:ext cx="25146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66744" y="2048256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46E5"/>
                </a:solidFill>
                <a:latin typeface="Noto Sans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468880"/>
            <a:ext cx="2112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72A"/>
                </a:solidFill>
                <a:latin typeface="Noto Sans"/>
              </a:rPr>
              <a:t>warning khi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6744" y="2706624"/>
            <a:ext cx="21122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Noto Sans"/>
              </a:rPr>
              <a:t>solution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901952"/>
            <a:ext cx="25146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048256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F46E5"/>
                </a:solidFill>
                <a:latin typeface="Noto San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468880"/>
            <a:ext cx="2112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72A"/>
                </a:solidFill>
                <a:latin typeface="Noto Sans"/>
              </a:rPr>
              <a:t>error khi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06624"/>
            <a:ext cx="21122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Noto Sans"/>
              </a:rPr>
              <a:t>solution build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1901952"/>
            <a:ext cx="251460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1432" y="2048256"/>
            <a:ext cx="21122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6B6D4"/>
                </a:solidFill>
                <a:latin typeface="Noto Sans"/>
              </a:rPr>
              <a:t>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468880"/>
            <a:ext cx="2112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F172A"/>
                </a:solidFill>
                <a:latin typeface="Noto Sans"/>
              </a:rPr>
              <a:t>bảng RLS được kiểm 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2706624"/>
            <a:ext cx="21122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4748B"/>
                </a:solidFill>
                <a:latin typeface="Noto Sans"/>
              </a:rPr>
              <a:t>real SQL Server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310128"/>
            <a:ext cx="513892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310128"/>
            <a:ext cx="64008" cy="9875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3493008"/>
            <a:ext cx="43891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0215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16A34A"/>
                </a:solidFill>
                <a:latin typeface="Noto San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493008"/>
            <a:ext cx="41879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Migration 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3922776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Database rỗng → latest → down → reapply; snapshot không drift.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310128"/>
            <a:ext cx="513892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2" y="3310128"/>
            <a:ext cx="64008" cy="98755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3493008"/>
            <a:ext cx="43891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50215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493008"/>
            <a:ext cx="41879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Tenant isolation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3922776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Raw SQL, cross-tenant insert/update và pooled connection đều bị kiểm soát.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4544568"/>
            <a:ext cx="513892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4544568"/>
            <a:ext cx="64008" cy="98755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14400" y="4727448"/>
            <a:ext cx="43891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73659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4727448"/>
            <a:ext cx="41879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Concurrency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" y="5157216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Proposal, rubric, draft và double-confirm hội tụ theo transaction/idempotency.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9632" y="4544568"/>
            <a:ext cx="5138928" cy="9875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9632" y="4544568"/>
            <a:ext cx="64008" cy="98755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4727448"/>
            <a:ext cx="438912" cy="310896"/>
          </a:xfrm>
          <a:prstGeom prst="roundRect">
            <a:avLst/>
          </a:prstGeom>
          <a:solidFill>
            <a:srgbClr val="EEF2FF"/>
          </a:solidFill>
          <a:ln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73659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4F46E5"/>
                </a:solidFill>
                <a:latin typeface="Noto Sa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727448"/>
            <a:ext cx="41879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Noto Sans"/>
              </a:rPr>
              <a:t>AI contracts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5157216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Noto Sans"/>
              </a:rPr>
              <a:t>Strict schema, citation, abstain, stale-source và human-decision được regression test.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232" y="5888736"/>
            <a:ext cx="10808208" cy="34747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" y="5971032"/>
            <a:ext cx="10442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30" b="1">
                <a:solidFill>
                  <a:srgbClr val="0F766E"/>
                </a:solidFill>
                <a:latin typeface="Noto Sans"/>
              </a:rPr>
              <a:t>Bằng chứng xác nhận phạm vi mã nguồn và SQL Server qua kiểm thử tự động.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889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94360" y="656539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4748B"/>
                </a:solidFill>
                <a:latin typeface="Noto Sans"/>
              </a:rPr>
              <a:t>NEXTGEN · BIZEN AI-NATIVE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3232" y="603504"/>
            <a:ext cx="1097280" cy="310896"/>
          </a:xfrm>
          <a:prstGeom prst="roundRect">
            <a:avLst/>
          </a:prstGeom>
          <a:solidFill>
            <a:srgbClr val="111C33"/>
          </a:solidFill>
          <a:ln>
            <a:solidFill>
              <a:srgbClr val="11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126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6B6D4"/>
                </a:solidFill>
                <a:latin typeface="Noto Sans"/>
              </a:rP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15568"/>
            <a:ext cx="758952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FFFFF"/>
                </a:solidFill>
                <a:latin typeface="Noto Sans"/>
              </a:rPr>
              <a:t>Một nền tảng quản trị hiệu suất
có thể giải thích và kiểm soát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3364992" cy="1572768"/>
          </a:xfrm>
          <a:prstGeom prst="roundRect">
            <a:avLst/>
          </a:prstGeom>
          <a:solidFill>
            <a:srgbClr val="111C33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76" y="3191256"/>
            <a:ext cx="438912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20040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F46E5"/>
                </a:solidFill>
                <a:latin typeface="Noto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31546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"/>
              </a:rPr>
              <a:t>Liên thông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703320"/>
            <a:ext cx="29077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CBD5E1"/>
                </a:solidFill>
                <a:latin typeface="Noto Sans"/>
              </a:rPr>
              <a:t>Chiến lược → OKR/KR → KPI → task/check-in → đánh giá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971800"/>
            <a:ext cx="3364992" cy="1572768"/>
          </a:xfrm>
          <a:prstGeom prst="roundRect">
            <a:avLst/>
          </a:prstGeom>
          <a:solidFill>
            <a:srgbClr val="111C33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0016" y="3191256"/>
            <a:ext cx="438912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320040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06B6D4"/>
                </a:solidFill>
                <a:latin typeface="Noto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6944" y="31546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"/>
              </a:rPr>
              <a:t>Có bằng chứng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3703320"/>
            <a:ext cx="29077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CBD5E1"/>
                </a:solidFill>
                <a:latin typeface="Noto Sans"/>
              </a:rPr>
              <a:t>Advisor dùng nguồn được phép, citation và source fingerprint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971800"/>
            <a:ext cx="3364992" cy="1572768"/>
          </a:xfrm>
          <a:prstGeom prst="roundRect">
            <a:avLst/>
          </a:prstGeom>
          <a:solidFill>
            <a:srgbClr val="111C33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49056" y="3191256"/>
            <a:ext cx="438912" cy="310896"/>
          </a:xfrm>
          <a:prstGeom prst="round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3200400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16A34A"/>
                </a:solidFill>
                <a:latin typeface="Noto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315468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Noto Sans"/>
              </a:rPr>
              <a:t>Con người quyết định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3703320"/>
            <a:ext cx="29077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>
                <a:solidFill>
                  <a:srgbClr val="CBD5E1"/>
                </a:solidFill>
                <a:latin typeface="Noto Sans"/>
              </a:rPr>
              <a:t>AI chỉ tạo draft; workflow chuẩn giữ quyền phê duyệt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230368"/>
            <a:ext cx="6583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Noto Sans"/>
              </a:rPr>
              <a:t>XIN CẢM ƠN HỘI ĐỒNG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05856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Noto Sans"/>
              </a:rPr>
              <a:t>Nhóm NEXTGEN sẵn sàng trình bày demo và trả lời phản biện.</a:t>
            </a:r>
          </a:p>
        </p:txBody>
      </p:sp>
      <p:pic>
        <p:nvPicPr>
          <p:cNvPr id="22" name="Picture 21" descr="logo.jpg"/>
          <p:cNvPicPr>
            <a:picLocks noChangeAspect="1"/>
          </p:cNvPicPr>
          <p:nvPr/>
        </p:nvPicPr>
        <p:blipFill>
          <a:blip r:embed="rId2"/>
          <a:srcRect l="259" r="259"/>
          <a:stretch>
            <a:fillRect/>
          </a:stretch>
        </p:blipFill>
        <p:spPr>
          <a:xfrm>
            <a:off x="8613648" y="4800600"/>
            <a:ext cx="2468880" cy="13533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